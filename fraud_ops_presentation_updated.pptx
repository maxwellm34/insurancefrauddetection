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88952" cy="20116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</a:rPr>
              <a:t>ALAN ASSURANCE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Ops Runner — Technical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CCCCCC"/>
                </a:solidFill>
              </a:rPr>
              <a:t>Detecting Fraud in Optical Care Claims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5468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</a:rPr>
              <a:t>Alan reimburses optical care claims submitted by opticians. This case asks: can we detect which providers are billing fraudulently — and build a system to catch it automatically?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March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The Dataset — What We're Working With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615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44752"/>
            <a:ext cx="2743200" cy="18288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2440"/>
                </a:solidFill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Optical providers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Independent optician shops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36976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0" y="1444752"/>
            <a:ext cx="2743200" cy="18288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78C2"/>
                </a:solidFill>
              </a:rPr>
              <a:t>221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Reimbursement claims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Records of money paid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17336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076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1444752"/>
            <a:ext cx="2743200" cy="182880"/>
          </a:xfrm>
          <a:prstGeom prst="rect">
            <a:avLst/>
          </a:prstGeom>
          <a:solidFill>
            <a:srgbClr val="0D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0D7A8E"/>
                </a:solidFill>
              </a:rPr>
              <a:t>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Months of 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January 2022 – June 2023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97696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6112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61120" y="1444752"/>
            <a:ext cx="2743200" cy="18288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9828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E07B39"/>
                </a:solidFill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Claim categories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Lunettes (glasses) · Lentilles (contacts)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218688"/>
            <a:ext cx="5440680" cy="2880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3218688"/>
            <a:ext cx="109728" cy="28803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32918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What a single data row looks like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36393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Each row = one provider's total billings for one category in one month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023360"/>
            <a:ext cx="5074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404164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Provider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06040" y="404164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Kylian's Frames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389120"/>
            <a:ext cx="50749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4074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Category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06040" y="440740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Lunettes (glasses)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754880"/>
            <a:ext cx="5074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" y="47731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06040" y="477316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March 2023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120640"/>
            <a:ext cx="50749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" y="513892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Amount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1389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€ 1 150.00  billed to Alan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218688"/>
            <a:ext cx="5852160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35040" y="3218688"/>
            <a:ext cx="109728" cy="288036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91072" y="329184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The question we're trying to answer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3703320"/>
            <a:ext cx="5577840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373075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Who might be committing fraud?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400507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Some opticians may be billing for services that were never provided — or inflating bills to extract more money from Alan.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453128"/>
            <a:ext cx="55778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9360" y="44805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What does fraud look like in this data?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09360" y="47548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Unusual billing patterns: sudden spikes, identical repeated amounts, or always claiming both glasses and contacts together.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5202936"/>
            <a:ext cx="5577840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0" y="523036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What can we do about it?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0" y="550468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Automatically score each provider and surface the suspicious ones for a human reviewer to investigate.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QUESTION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Data Exploration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What suspicious
patterns did we find?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7 out of 12 providers showed at least one red flag · 3 distinct fraud patterns identified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Results — Which Providers Look Suspicious?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Each provider is given a risk score 0–100 based on how many suspicious patterns were detected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3657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59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Risk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What was detected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810512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1856231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Les lunettes à Soso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59" y="185623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1856231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59" y="1856231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 + repeated amounts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67128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2128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Penthievre alambics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59" y="22128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221284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59" y="221284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23744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256946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Queen optics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59" y="256946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25694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59" y="256946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880360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292608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Mike lunettes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94759" y="292608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292608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59" y="292608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236976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28269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Runner glasses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94759" y="328269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88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57800" y="3282696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59" y="328269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repeated amounts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593592"/>
            <a:ext cx="11640312" cy="356616"/>
          </a:xfrm>
          <a:prstGeom prst="rect">
            <a:avLst/>
          </a:prstGeom>
          <a:solidFill>
            <a:srgbClr val="FFF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63931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Kylian's frames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59" y="363931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57800" y="36393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Under review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59" y="363931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3950208"/>
            <a:ext cx="11640312" cy="356616"/>
          </a:xfrm>
          <a:prstGeom prst="rect">
            <a:avLst/>
          </a:prstGeom>
          <a:solidFill>
            <a:srgbClr val="FFF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99592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Roudoudou lentilles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94759" y="39959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99592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Under review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59" y="399592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306824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3525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Voodoo optics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4759" y="435254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57800" y="435254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95159" y="435254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4663440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4709159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abc optics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94759" y="4709159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57800" y="4709159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95159" y="4709159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020055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5065775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Cool optics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94759" y="5065775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065775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95159" y="5065775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376671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5422391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Dallas optics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794759" y="542239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57800" y="5422391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59" y="5422391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5733287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5760" y="577900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22 optics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94759" y="5779007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57800" y="5779007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95159" y="5779007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6163055"/>
            <a:ext cx="11640312" cy="402336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7200" y="6199631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5 providers had payments automatically held  ·  2 flagged for manual review  ·  5 cleared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Pattern 1 — Glasses and Contacts Always Billed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Some opticians systematically claim both Lunettes and Lentilles for the same month, month after month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914400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09728" cy="91440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Why is this suspicious?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73936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In reality, a single patient can't wear both glasses and contact lenses at the same time. An optician billing for both products every single month is likely adding fictitious contact-lens charges to genuine glasses sales — the patient pays less out-of-pocket while Alan absorbs the extra cost.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450592"/>
            <a:ext cx="5742432" cy="37673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450592"/>
            <a:ext cx="5742432" cy="7315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59689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Kylian's Frames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26280" y="2551176"/>
            <a:ext cx="1417320" cy="402336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2551176"/>
            <a:ext cx="1417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68/100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063240"/>
            <a:ext cx="5349240" cy="685800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09067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07B39"/>
                </a:solidFill>
              </a:rPr>
              <a:t>76% of active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47472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had both Lunettes and Lentilles billed  (10 out of 13 months)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85876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Also had one month where billings suddenly spiked 5× above normal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315968"/>
            <a:ext cx="1691640" cy="34747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31596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NEEDS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35254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Risk score: 68/100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08192" y="2450592"/>
            <a:ext cx="5742432" cy="37673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08192" y="2450592"/>
            <a:ext cx="5742432" cy="7315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1072" y="259689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Roudoudou Lentilles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60152" y="2551176"/>
            <a:ext cx="1417320" cy="402336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60152" y="2551176"/>
            <a:ext cx="1417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50/100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91072" y="3063240"/>
            <a:ext cx="5349240" cy="685800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2512" y="309067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07B39"/>
                </a:solidFill>
              </a:rPr>
              <a:t>100% of active months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347472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had both Lunettes and Lentilles billed  (12 out of 12 months)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1072" y="385876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Every single active month had both categories — 100% of the time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1072" y="4315968"/>
            <a:ext cx="1691640" cy="34747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1072" y="431596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NEEDS REVIEW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65592" y="435254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Risk score: 50/100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Pattern 2 — Sudden Unexplained Billing Spikes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Some providers had months where billings jumped dramatically above their own historical average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71323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09728" cy="71323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Why is this suspicious?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6479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A sudden spike well above a provider's own normal billing level can indicate a burst of fictitious or inflated claims — especially when it coincides with the co-billing pattern above.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240280"/>
            <a:ext cx="3749039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240280"/>
            <a:ext cx="3749039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239572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Mike Lunettes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2350008"/>
            <a:ext cx="1325880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06039" y="2350008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100/100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79" y="2852928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79" y="285292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79" y="3319272"/>
            <a:ext cx="3474720" cy="56692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346704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62839"/>
                </a:solidFill>
              </a:rPr>
              <a:t>3 spike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6576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where billings were &gt; 5× their own 6-month average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79" y="4023360"/>
            <a:ext cx="347472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06908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Also: co-billing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3251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85% co-billing rate across all months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79" y="482803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Two independent signals → score 100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24528" y="2240280"/>
            <a:ext cx="3749039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24528" y="2240280"/>
            <a:ext cx="3749039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1688" y="239572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Penthievre Alambics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56248" y="2350008"/>
            <a:ext cx="1325880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2350008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100/100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1688" y="2852928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61688" y="285292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61688" y="3319272"/>
            <a:ext cx="3474720" cy="56692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53128" y="3346704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62839"/>
                </a:solidFill>
              </a:rPr>
              <a:t>2 spike months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53128" y="36576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where billings were &gt; 5× their own 6-month average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61688" y="4023360"/>
            <a:ext cx="347472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53128" y="406908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Also: co-billing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43251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94% co-billing rate — highest in dataset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61688" y="482803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Two independent signals → score 100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74736" y="2240280"/>
            <a:ext cx="3749039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74736" y="2240280"/>
            <a:ext cx="3749039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11896" y="239572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Queen Optics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06456" y="2350008"/>
            <a:ext cx="1325880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06456" y="2350008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100/100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11896" y="2852928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11896" y="285292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11896" y="3319272"/>
            <a:ext cx="3474720" cy="56692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03336" y="3346704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62839"/>
                </a:solidFill>
              </a:rPr>
              <a:t>3 spike months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03336" y="36576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where billings were &gt; 5× their own 6-month average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11896" y="4023360"/>
            <a:ext cx="347472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3336" y="406908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Also: co-billing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03336" y="43251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96% co-billing rate — near-universal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11896" y="482803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Two independent signals → score 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" y="608076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44444"/>
                </a:solidFill>
              </a:rPr>
              <a:t>When two unrelated fraud signals appear simultaneously it dramatically increases confidence the provider is acting fraudulently.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Pattern 3 — Identical Amounts Billed Repeatedly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The exact same euro amount appearing 3 or more times within a 12-month period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09728" cy="68580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Why is this suspicious?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64792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Real claims vary naturally. When the exact same euro amount appears over and over for the same provider and product category, it suggests the claims may be copy-pasted fabrications rather than genuine billing.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212848"/>
            <a:ext cx="5440680" cy="400507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212848"/>
            <a:ext cx="5440680" cy="73152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359152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Runner Glasses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2313432"/>
            <a:ext cx="896112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2313432"/>
            <a:ext cx="8961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88/100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36008" y="2779776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36008" y="2779776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4612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Three separate repeated-amount patterns detected: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66160"/>
            <a:ext cx="5074920" cy="3200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584448"/>
            <a:ext cx="1371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Amount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584448"/>
            <a:ext cx="1371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Category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584448"/>
            <a:ext cx="1371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How many times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913632"/>
            <a:ext cx="50749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93192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€ 850.00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29968" y="393192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Glasses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93008" y="3931920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4 times in 12 months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261104"/>
            <a:ext cx="5074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279392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€ 320.00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9968" y="4279392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Contacts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4279392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3 times in 12 months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608576"/>
            <a:ext cx="50749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62686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€ 650.00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29968" y="462686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Glasses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93008" y="462686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3 times in 12 months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0292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2839"/>
                </a:solidFill>
              </a:rPr>
              <a:t>Also had co-billing in 55% of months → total score 88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2212848"/>
            <a:ext cx="5806440" cy="400507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2212848"/>
            <a:ext cx="5806440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63640" y="235915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Les Lunettes à Soso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292840" y="2313432"/>
            <a:ext cx="841248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292840" y="2313432"/>
            <a:ext cx="8412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100/100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128248" y="2779776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128248" y="2779776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3246120"/>
            <a:ext cx="5486400" cy="36576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327355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The only provider to trigger all three patterns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3657600"/>
            <a:ext cx="548640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368503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Co-billing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368503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77% of months had both glasses + contacts billed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4224528"/>
            <a:ext cx="54864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0" y="425196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Billing spike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251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1 month jumped to over 5× their normal billing level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63640" y="4791456"/>
            <a:ext cx="548640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0" y="481888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Repeated amounts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48188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2 separate amounts repeated 3+ times each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63640" y="5394960"/>
            <a:ext cx="5486400" cy="685800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0800" y="5458968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2839"/>
                </a:solidFill>
              </a:rPr>
              <a:t>Three separate, independent signals → highest confidence fraud case in the dataset.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QUESTION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Detection System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How did we turn these
patterns into a system?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3 automated detection rules · risk scoring pipeline · instant routing of every provider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The Detection Engine — 3 Rules, Automatically Applied to Every Provider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Each rule adds points to a provider's risk score. Final score 0–100 determines what happens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3520440" cy="3520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3520440" cy="4389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4447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19476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Billing Spike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3774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Flag any month where a provider's total billings are more than 5× higher than their own rolling 6-month average for that product category.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090672"/>
            <a:ext cx="3520440" cy="27432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31089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A623"/>
                </a:solidFill>
              </a:rPr>
              <a:t>Logic: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3108960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current month &gt; 5 × 6-month median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572000"/>
            <a:ext cx="352044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590288"/>
            <a:ext cx="3337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2440"/>
                </a:solidFill>
              </a:rPr>
              <a:t>+30 points per spiked month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60520" y="1417320"/>
            <a:ext cx="3520440" cy="3520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60520" y="1417320"/>
            <a:ext cx="3520440" cy="4389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5112" y="14447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Rule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5112" y="19476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Systematic Co-Billing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5112" y="23774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Flag providers who bill both glasses and contacts in the same month for the majority of their active months (≥ 50%). Occasional overlap is normal; systematic overlap is not.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20" y="3090672"/>
            <a:ext cx="3520440" cy="27432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25112" y="31089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A623"/>
                </a:solidFill>
              </a:rPr>
              <a:t>Logic: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73752" y="3108960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≥ 50% of months have both categories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4572000"/>
            <a:ext cx="352044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1959" y="4590288"/>
            <a:ext cx="3337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2440"/>
                </a:solidFill>
              </a:rPr>
              <a:t>25–50 points  (scales with how systematic)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1417320"/>
            <a:ext cx="3520440" cy="3520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1417320"/>
            <a:ext cx="3520440" cy="4389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14447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Rule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19476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Repeated Identical Amount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23774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Flag any (provider, category) pair where the exact same euro amount appears 3 or more times within any rolling 12-month window. Real billing varies naturally.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20" y="3090672"/>
            <a:ext cx="3520440" cy="27432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11312" y="31089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A623"/>
                </a:solidFill>
              </a:rPr>
              <a:t>Logic: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59952" y="3108960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same € amount ≥ 3× in 12-month window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4572000"/>
            <a:ext cx="352044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0" y="4590288"/>
            <a:ext cx="3337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2440"/>
                </a:solidFill>
              </a:rPr>
              <a:t>+20 points per repeated-amount pattern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5074920"/>
            <a:ext cx="11640312" cy="3200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509320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What happens to the score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5440680"/>
            <a:ext cx="3520440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5458968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Cleared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582472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Score = 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09904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</a:rPr>
              <a:t>No flags — approved automatically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60520" y="5440680"/>
            <a:ext cx="3520440" cy="10058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51959" y="5458968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Under Review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51959" y="582472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Score 1–70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51959" y="609904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</a:rPr>
              <a:t>At least one signal — human reviews it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5440680"/>
            <a:ext cx="3520440" cy="100584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38160" y="5458968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38160" y="582472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Score &gt; 70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0" y="609904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</a:rPr>
              <a:t>Strong evidence — payments suspended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32120"/>
            <a:ext cx="12188952" cy="1325880"/>
          </a:xfrm>
          <a:prstGeom prst="rect">
            <a:avLst/>
          </a:prstGeom>
          <a:solidFill>
            <a:srgbClr val="0D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9144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CCCCCC"/>
                </a:solidFill>
              </a:rPr>
              <a:t>Beyond the analysis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we built a working system
around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34640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The detection logic above is packaged into a full web application that an ops team can actually use day-to-day: upload new claims, run detection with one click, and review every flagged provider with full evidence.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749039"/>
            <a:ext cx="2743200" cy="9144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Live risk scores, flagged provider count, recent review activity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3749039"/>
            <a:ext cx="2743200" cy="91440"/>
          </a:xfrm>
          <a:prstGeom prst="rect">
            <a:avLst/>
          </a:prstGeom>
          <a:solidFill>
            <a:srgbClr val="0D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Provider 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Run detection · search and filter · see every provider's risk 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3749039"/>
            <a:ext cx="2743200" cy="914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Flag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Click any provider to see exactly which claims triggered each flag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8116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81160" y="3749039"/>
            <a:ext cx="2743200" cy="91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4575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Review panel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575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Submit a decision on any provider — approve, escalate, or blacklist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65099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788AA"/>
                </a:solidFill>
              </a:rPr>
              <a:t>Built with  Next.js + TypeScript  ·  Python FastAPI  ·  PostgreSQL  ·  Full FR/EN localisation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QUESTION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Recommendations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What should happen
with these providers?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Immediate actions · system limitations · how to improve detection over time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Recommended Actions by Provider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Prioritised by risk score — highest confidence cases first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Patterns Found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792224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18470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Les lunettes à Soso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8470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79" y="1847088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847088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 + repeated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184708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Immediate audit — 3 independent fraud signals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185416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22402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Penthievre alambics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2240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79" y="224028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224028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240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Full audit + suspend payments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578608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263347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Queen optics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6334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79" y="2633472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2633472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26334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Full audit + suspend payments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2971800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302666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Mike lunettes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302666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79" y="3026664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3026664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302666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Full audit + suspend payments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364992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41985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Runner glasses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341985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79" y="3419856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3419856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repeated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3419856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Audit — repeated billing pattern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3758184"/>
            <a:ext cx="11640312" cy="384048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381304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440"/>
                </a:solidFill>
              </a:rPr>
              <a:t>Kylian's frames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813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68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54879" y="3813048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Under review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3813048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12480" y="381304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Manual review — borderline, monitor closely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4151376"/>
            <a:ext cx="11640312" cy="384048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42062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440"/>
                </a:solidFill>
              </a:rPr>
              <a:t>Roudoudou lentilles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4206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4879" y="420624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Under review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46520" y="420624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only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0" y="42062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Manual review — systematic but below hold threshold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4617720"/>
            <a:ext cx="11640312" cy="15361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74320" y="4617720"/>
            <a:ext cx="109728" cy="153619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2920" y="46908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How to improve detection over time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920" y="5056631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·  Get individual claim-level data → detect co-billing at member level (more precise)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5330951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·  Add geographic clustering → flag multiple providers at the same address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5605271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·  Seasonal tuning → avoid false positives from legitimate holiday spikes in December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587959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·  ML model trained on confirmed fraud cases → dynamic scoring instead of fixed point weights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