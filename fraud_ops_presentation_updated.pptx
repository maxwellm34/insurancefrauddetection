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ALAN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Ops Runner — Technical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CCCCCC"/>
                </a:solidFill>
              </a:rPr>
              <a:t>Fraud Detection 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794760"/>
            <a:ext cx="21031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159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44"/>
                </a:solidFill>
              </a:rPr>
              <a:t>Providers analysed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3794760"/>
            <a:ext cx="21031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3794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440"/>
                </a:solidFill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43159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44"/>
                </a:solidFill>
              </a:rPr>
              <a:t>Fraud flags triggered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3794760"/>
            <a:ext cx="21031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794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44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3159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44"/>
                </a:solidFill>
              </a:rPr>
              <a:t>Detection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March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5" y="1499616"/>
            <a:ext cx="2651760" cy="14173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2651760" cy="201168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737360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3042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Optical 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6060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Shops in the dataset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6976" y="1499616"/>
            <a:ext cx="2651760" cy="14173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46304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463040"/>
            <a:ext cx="2651760" cy="201168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1737360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78C2"/>
                </a:solidFill>
              </a:rPr>
              <a:t>221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3042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Reimbursement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26060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Rows in source 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7336" y="1499616"/>
            <a:ext cx="2651760" cy="14173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6304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63040"/>
            <a:ext cx="2651760" cy="201168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0488" y="1737360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D7A8E"/>
                </a:solidFill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3042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Months of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26060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Jan 2022 – Jun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1499616"/>
            <a:ext cx="2651760" cy="14173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46304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463040"/>
            <a:ext cx="2651760" cy="20116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0848" y="1737360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07B39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23042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Product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26060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Lunettes &amp; Lentilles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00400"/>
            <a:ext cx="539496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200400"/>
            <a:ext cx="109728" cy="29260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735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Data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630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Each CSV row = one (provider × category × month)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05072"/>
            <a:ext cx="2286000" cy="30175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26080" y="4005072"/>
            <a:ext cx="2560320" cy="30175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0416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Column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40416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Example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315968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26080" y="4315968"/>
            <a:ext cx="25603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352544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provider_id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43525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OPT-007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626864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26080" y="4626864"/>
            <a:ext cx="25603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category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7520" y="46634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Lunettes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937759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26080" y="4937759"/>
            <a:ext cx="25603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497433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month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4974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2023-03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248655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926080" y="5248655"/>
            <a:ext cx="25603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5285231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amount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0" y="5285231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€ 1 150.00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559551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26080" y="5559551"/>
            <a:ext cx="25603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596127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member_id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5596127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(aggregate proxy)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3200400"/>
            <a:ext cx="58521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35040" y="3200400"/>
            <a:ext cx="109728" cy="29260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91072" y="32735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Fraud Detection Scope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3749039"/>
            <a:ext cx="228600" cy="5303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0528" y="374903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Dual Product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0528" y="400507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Both categories billed same month, systematically (≥ 50% of months)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72200" y="4498848"/>
            <a:ext cx="228600" cy="5303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10528" y="44988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Monthly Spike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10528" y="47548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Single month &gt; 5× the 6-month rolling median for that category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72200" y="5248656"/>
            <a:ext cx="228600" cy="5303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10528" y="524865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10528" y="550468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Identical € amount repeated ≥ 3× in a rolling 12-month window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5806440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individual member-level data available — detection operates on monthly provider aggregates.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Data Exploration &amp; Pattern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suspicious
patterns did we find?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Analysis of 221 claims across 12 providers · Jan 2022 – Jun 2023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Provider Risk Scores — Full Dataset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1164031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Fraud Rules Triggered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81051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5623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1856231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59" y="18562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1856231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· monthly_spike · repeated_amount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6712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2128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59" y="221284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59" y="221284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21284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· monthly_spike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23744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56946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59" y="256946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59" y="25694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5694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· monthly_spike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880360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92608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59" y="292608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59" y="29260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9260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· monthly_spike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36976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282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3282696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32826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328269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· repeated_amount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593592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63931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59" y="363931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66359" y="36393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639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 · monthly_spike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950208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39959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59" y="39959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66359" y="399592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9959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306824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43525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Voodoo optics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94759" y="435254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6359" y="43525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35254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4663440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470915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abc optics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94759" y="4709159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66359" y="47091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470915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5020055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506577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Cool optics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4759" y="5065775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66359" y="506577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0" y="5065775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376671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542239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Dallas optics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94759" y="5422391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66359" y="542239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29400" y="5422391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5733287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57790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22 optics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94759" y="5779007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66359" y="5779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Approved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9400" y="577900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6163055"/>
            <a:ext cx="11640312" cy="43891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181343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 AUTO-HELD  ·  2 NEEDS REVIEW  ·  5 AUTO-APPROVED  (score = 0 → approved, any flag → at least review)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Fraud Pattern: Systematic Co-Billing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Lunettes + Lentilles billed in same month, month after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544068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440680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72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1527048"/>
            <a:ext cx="91440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527048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68/100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984248"/>
            <a:ext cx="155448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9842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487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76% of active months: both Lunettes + Lentilles billed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077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Score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46120"/>
            <a:ext cx="50749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2644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Dual 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26440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26440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76% co-billing rate  →  min(50, 0.76×50) = 38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03320"/>
            <a:ext cx="50749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21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Monthly spike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72160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72160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month exceeded 5× rolling median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245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7B39"/>
                </a:solidFill>
              </a:rPr>
              <a:t>Total: 68/100  →  Needs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Borderline — co-billing is systematic but score below auto-hold threshold.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417320"/>
            <a:ext cx="580644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417320"/>
            <a:ext cx="5806440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15727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38560" y="1527048"/>
            <a:ext cx="82296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338560" y="1527048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50/100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155680" y="1984248"/>
            <a:ext cx="155448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55680" y="19842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24871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100% of active months: both categories billed every single 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9077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Score breakdown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46120"/>
            <a:ext cx="544068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2644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Dual product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326440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2644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100% co-billing  →  min(50, 1.0×50) = 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3794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7B39"/>
                </a:solidFill>
              </a:rPr>
              <a:t>Total: 50/100  →  Needs Review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4251960"/>
            <a:ext cx="5440680" cy="1691640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4251960"/>
            <a:ext cx="91440" cy="16916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431596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What this fraud looks like: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645152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An optician adds fictitious contact-lens charges alongside a genuine glasses sale. The patient's "reste à charge" is reduced while the insurer absorbs the extra amount. Because data is monthly aggregates, we detect the pattern at provider level.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Fraud Pattern: Co-Billing + Abnormal Spike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Three providers flagged by both rules — scores exceed 70 → Auto-Held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44752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Dual (+)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Spike (+)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 Spikes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Note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819656"/>
            <a:ext cx="11640312" cy="47548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89280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892807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89280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892807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89280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×3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89280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85% dual-billing rate (11/13 months)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13432"/>
            <a:ext cx="11640312" cy="47548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3865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238658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8658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2386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38658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×2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38658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94% dual-billing rate — highest in dataset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807208"/>
            <a:ext cx="11640312" cy="47548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880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2880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2880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×3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28803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96% dual-billing rate — near-universal co-billing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246120"/>
            <a:ext cx="5440680" cy="2834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3246120"/>
            <a:ext cx="109728" cy="28346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3101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Monthly Spike Rule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368503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Triggered when a single month's total exceeds 5× the rolling 6-month median for that (provider, category).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160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Score per spike: +30
(multiple spikes stack; final score capped at 100)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800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Combined with systematic co-billing, these providers show two independent fraud signals firing simultaneously.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3246120"/>
            <a:ext cx="58064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80760" y="3246120"/>
            <a:ext cx="109728" cy="28346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91072" y="33101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Dual Product Rule (recap)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1072" y="368503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Score = min(50, round(dual_ratio × 50))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91072" y="402336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·  Mike: 85% → score 43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435254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·  Penthievre: 94% → score 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91072" y="468172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·  Queen: 96% → score 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1072" y="489204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Scheme: fictitious contact-lens charges reduce patient's "reste à charge" — insurer pays more per transaction.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Fraud Pattern: Repeated Identical Amounts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Same euro amount billed 3+ times within a 12-month rolling window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544068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440680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72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1527048"/>
            <a:ext cx="82296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527048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88/100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984248"/>
            <a:ext cx="155448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9842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AUTO-HELD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4871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Score: dual_product (+28) + repeated_amount (+60) = 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8803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amounts detected: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5074920" cy="329184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186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2186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21868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Occurrences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1868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557016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5753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€ 850.00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5753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Lunettes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5753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4× in 12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57530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+20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22776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9410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€ 320.00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9410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Lentilles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94106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3× in 12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394106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+20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288536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30682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€ 650.00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430682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Lunettes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30682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3× in 12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30682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+20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006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Pattern: fixed-price fictitious claims recycled every few months.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1417320"/>
            <a:ext cx="580644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80760" y="1417320"/>
            <a:ext cx="5806440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15727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338560" y="1527048"/>
            <a:ext cx="82296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338560" y="1527048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155680" y="1984248"/>
            <a:ext cx="155448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55680" y="19842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AUTO-HELD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239572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ONLY provider triggering all 3 detection rules simultaneously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834640"/>
            <a:ext cx="548640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8529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Dual product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28529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285292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77% co-billing rate across active months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3337560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33558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Monthly spike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33558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6840" y="335584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spike event — ratio &gt; 5× rolling median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3840480"/>
            <a:ext cx="548640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38587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85876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+40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38587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 repeated patterns of +20 each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63640" y="4434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Total: 109 → capped at 100 → Auto-Held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63640" y="4846320"/>
            <a:ext cx="5486400" cy="105156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63640" y="4846320"/>
            <a:ext cx="91440" cy="10515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4919472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Multiple independent signals firing at once = highest confidence fraud case in the dataset. Compound risk from three distinct schemes.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Detection Algorithm Design &amp;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How did we build
the detection engine?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3 rules · risk scoring · automated routing · Python + FastAPI backend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Detection Engine — 3 Rules +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20440" cy="3291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3520440" cy="45720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444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Rule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659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Monthly Spike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871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6-month rolling median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8346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per (provider ×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821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Flag if month &gt; 5× median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343400"/>
            <a:ext cx="3520440" cy="3657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361688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440"/>
                </a:solidFill>
              </a:rPr>
              <a:t>+30 per spike  ·  one flag per (cat, month)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17320"/>
            <a:ext cx="3520440" cy="3291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1417320"/>
            <a:ext cx="3520440" cy="45720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5112" y="1444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Rule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19659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Dual 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24871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Lunettes + Lentilles same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28346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Flag if ≥ 50% of active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31821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One summary flag per provider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4343400"/>
            <a:ext cx="3520440" cy="3657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59" y="4361688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440"/>
                </a:solidFill>
              </a:rPr>
              <a:t>min(50, ratio × 50)  ·  50% → 25 pts  ·  100% → 50 pts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417320"/>
            <a:ext cx="3520440" cy="32918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17320"/>
            <a:ext cx="3520440" cy="45720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1444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Rule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9659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Repeated Amount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24871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Same € amount ≥ 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8346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in rolling 12-month window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1821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per (provider × category)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4343400"/>
            <a:ext cx="3520440" cy="3657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361688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440"/>
                </a:solidFill>
              </a:rPr>
              <a:t>+20 per (cat, amount) pair  ·  €0 excluded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828032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84632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Routing Thresholds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212080"/>
            <a:ext cx="352044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230368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AUTO-APPROVED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61441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score = 0
(no flags)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5212080"/>
            <a:ext cx="3520440" cy="9144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59" y="5230368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59" y="561441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 ≤ score ≤ 70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5212080"/>
            <a:ext cx="3520440" cy="91440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0" y="5230368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AUTO-HELD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561441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score &gt; 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23620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</a:rPr>
              <a:t>Final score = sum of all rule contributions, capped at 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00"/>
            <a:ext cx="12188952" cy="1371600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2286000" cy="5303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Let me show you
the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886200"/>
            <a:ext cx="2743200" cy="114300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886200"/>
            <a:ext cx="27432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07408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Live risk scores · flagged providers · recent activity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886200"/>
            <a:ext cx="2743200" cy="114300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886200"/>
            <a:ext cx="27432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Providers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407408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Run detection · search · view individual risk profiles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886200"/>
            <a:ext cx="2743200" cy="114300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886200"/>
            <a:ext cx="27432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Flags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407408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Expandable evidence panels · co-billing months · spikes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3886200"/>
            <a:ext cx="2743200" cy="114300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3886200"/>
            <a:ext cx="27432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407408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Submit decisions · audit trail · approve or escalate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235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BB"/>
                </a:solidFill>
              </a:rPr>
              <a:t>Next.js frontend  ·  FastAPI backend  ·  PostgreSQL  ·  Real-time detection pipeline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Recommendations &amp; Future Improvements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should we
do next?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Actions for flagged providers · system limitations · roadmap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Summary &amp; Recommended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Recommended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792224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8470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847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1847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47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3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8470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Immediate audit — highest confidence case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85416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240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240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spike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240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payment suspension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78608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6334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2633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26334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334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spike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6334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payment suspension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971800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0266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30266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3026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026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spike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0266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payment suspension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364992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41985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1840" y="341985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341985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4198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repeated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341985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Audit — repeated billing pattern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58184"/>
            <a:ext cx="11640312" cy="38404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130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13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68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600" y="38130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8130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 + spike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8130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Review — borderline, monitor 3 months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151376"/>
            <a:ext cx="11640312" cy="38404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206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9184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060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dual_product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4206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Review — systematic co-billing confirmed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4636007"/>
            <a:ext cx="11640312" cy="1508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4636007"/>
            <a:ext cx="109728" cy="1508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70915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Next Steps &amp; Improvements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056631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Ingest individual claim-level data → enable true member-level dual-product detection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53492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Geographic clustering: flag multiple providers at the same address / postal code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56418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Seasonal adjustment in spike rule to avoid false positives during optical gift season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93445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ML model (XGBoost / LightGBM) trained on confirmed fraud cases for dynamic scoring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