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ALAN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Ops Runner — Technical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CCCC"/>
                </a:solidFill>
              </a:rPr>
              <a:t>Detecting Fraud in Optical Care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Alan reimburses optical care claims submitted by opticians. This case asks: can we detect which providers are billing fraudulently — and build a system to catch it automatically?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March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Dataset — What We're Working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5" y="1481328"/>
            <a:ext cx="2743200" cy="141732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743200" cy="18288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440"/>
                </a:solidFill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Optical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6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Independent optician shops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6976" y="1481328"/>
            <a:ext cx="2743200" cy="141732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444752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444752"/>
            <a:ext cx="2743200" cy="18288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0078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78C2"/>
                </a:solidFill>
              </a:rPr>
              <a:t>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Reimbursement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96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Records of money paid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1481328"/>
            <a:ext cx="2743200" cy="141732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444752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444752"/>
            <a:ext cx="2743200" cy="18288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0078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7A8E"/>
                </a:solidFill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Months of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96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January 2022 – June 2023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481328"/>
            <a:ext cx="2743200" cy="141732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444752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1444752"/>
            <a:ext cx="2743200" cy="1828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70078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07B39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Claim 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596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Lunettes (glasses) · Lentilles (contacts)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18688"/>
            <a:ext cx="5440680" cy="2880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218688"/>
            <a:ext cx="109728" cy="288036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291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What a single data row looks 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639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Each row = one provider's total billings for one category in one month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23360"/>
            <a:ext cx="5074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041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Provider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0416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Kylian's Frames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89120"/>
            <a:ext cx="5074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4074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Category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4074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Lunettes (glasses)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754880"/>
            <a:ext cx="5074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773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Month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477316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March 2023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20640"/>
            <a:ext cx="5074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138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Amount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1389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€ 1 150.00  billed to Alan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218688"/>
            <a:ext cx="58521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3218688"/>
            <a:ext cx="109728" cy="288036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3291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The question we're trying to answer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703320"/>
            <a:ext cx="557784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37307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Who might be committing fraud?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005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Some opticians may be billing for services that were never provided — or inflating bills to extract more money from Alan.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453128"/>
            <a:ext cx="55778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480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What does fraud look like in this data?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754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Unusual billing patterns: sudden spikes, identical repeated amounts, or always claiming both glasses and contacts together.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5202936"/>
            <a:ext cx="557784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230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What can we do about it?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504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Automatically score each provider and surface the suspicious ones for a human reviewer to investigate.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440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Data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 suspicious
patterns did we find?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8 out of 12 providers showed at least one red flag · 4 distinct fraud patterns identified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— Which Providers Look Suspicious?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Each provider is given a risk score 0–100 based on how many suspicious patterns were detected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36576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3560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143560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Risk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43560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43560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What was 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10512"/>
            <a:ext cx="11640312" cy="356616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5623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Queen optics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18562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</a:rPr>
              <a:t>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1856231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Payments held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185623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billing spike + round numbers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67128"/>
            <a:ext cx="11640312" cy="356616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2128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Mike lunettes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22128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</a:rPr>
              <a:t>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2128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Payments held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22128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billing spike + round numbers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40312" cy="356616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569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Les lunettes à Soso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59" y="2569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</a:rPr>
              <a:t>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56946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Payments held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25694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spike + repeated + round numbers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80360"/>
            <a:ext cx="11640312" cy="356616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926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Penthievre alambics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59" y="2926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</a:rPr>
              <a:t>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29260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Payments held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2926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billing spike + round numbers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36976"/>
            <a:ext cx="11640312" cy="356616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282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Runner glasses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59" y="32826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</a:rPr>
              <a:t>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2826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Payments held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32826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repeated amounts + round numbers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593592"/>
            <a:ext cx="11640312" cy="35661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639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Kylian's frames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59" y="36393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39"/>
                </a:solidFill>
              </a:rPr>
              <a:t>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6393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</a:rPr>
              <a:t>Under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59" y="36393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billing spike + round numbers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950208"/>
            <a:ext cx="11640312" cy="35661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9959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Roudoudou lentilles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59" y="39959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39"/>
                </a:solidFill>
              </a:rPr>
              <a:t>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9959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</a:rPr>
              <a:t>Under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59" y="39959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Co-billing + round numbers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306824"/>
            <a:ext cx="11640312" cy="356616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3525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Voodoo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59" y="4352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39"/>
                </a:solidFill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435254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</a:rPr>
              <a:t>Under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59" y="43525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Round number billing detected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663440"/>
            <a:ext cx="11640312" cy="356616"/>
          </a:xfrm>
          <a:prstGeom prst="rect">
            <a:avLst/>
          </a:prstGeom>
          <a:solidFill>
            <a:srgbClr val="F0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7091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La classe à Dallas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59" y="470915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4709159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Cleared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59" y="4709159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suspicious patterns found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020055"/>
            <a:ext cx="11640312" cy="356616"/>
          </a:xfrm>
          <a:prstGeom prst="rect">
            <a:avLst/>
          </a:prstGeom>
          <a:solidFill>
            <a:srgbClr val="F0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06577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Cool optics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4759" y="506577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065775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Cleared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59" y="5065775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suspicious patterns found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376671"/>
            <a:ext cx="11640312" cy="356616"/>
          </a:xfrm>
          <a:prstGeom prst="rect">
            <a:avLst/>
          </a:prstGeom>
          <a:solidFill>
            <a:srgbClr val="F0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4223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abc optic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94759" y="54223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5422391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Cleared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59" y="542239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suspicious patterns found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733287"/>
            <a:ext cx="11640312" cy="356616"/>
          </a:xfrm>
          <a:prstGeom prst="rect">
            <a:avLst/>
          </a:prstGeom>
          <a:solidFill>
            <a:srgbClr val="F0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577900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22 optics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94759" y="577900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57800" y="5779007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Cleared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59" y="5779007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suspicious patterns found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163055"/>
            <a:ext cx="11640312" cy="402336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6199631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 providers had payments automatically held  ·  3 flagged for manual review  ·  4 cleared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Pattern 1 — Glasses and Contacts Always Billed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Some opticians systematically claim both Lunettes and Lentilles for the same month, month after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9144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09728" cy="9144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Why is this suspicious?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7393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 reality, a single patient can't wear both glasses and contact lenses at the same time. An optician billing for both products every single month is likely adding fictitious contact-lens charges to genuine glasses sales — the patient pays less out-of-pocket while Alan absorbs the extra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50592"/>
            <a:ext cx="5742432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450592"/>
            <a:ext cx="5742432" cy="731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96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Kylian's Frames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551176"/>
            <a:ext cx="1417320" cy="40233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55117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54/100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5349240" cy="6858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7B39"/>
                </a:solidFill>
              </a:rPr>
              <a:t>76% of active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had both Lunettes and Lentilles billed  (10 out of 13 months)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587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Also had one month where billings suddenly spiked 5× above normal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15968"/>
            <a:ext cx="1691640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159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NEEDS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3525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39"/>
                </a:solidFill>
              </a:rPr>
              <a:t>Risk score: 54/100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2450592"/>
            <a:ext cx="5742432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2450592"/>
            <a:ext cx="5742432" cy="731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596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Roudoudou Lentilles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60152" y="2551176"/>
            <a:ext cx="1417320" cy="40233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2" y="255117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40/100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3063240"/>
            <a:ext cx="5349240" cy="6858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0906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7B39"/>
                </a:solidFill>
              </a:rPr>
              <a:t>100% of active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474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had both Lunettes and Lentilles billed  (12 out of 12 months)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8587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Every single active month had both categories — 100% of the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4315968"/>
            <a:ext cx="1691640" cy="34747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31596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NEEDS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43525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B39"/>
                </a:solidFill>
              </a:rPr>
              <a:t>Risk score: 40/100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Pattern 2 — Sudden Unexplained Billing Spikes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Some providers had months where billings jumped dramatically above their own historical average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71323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09728" cy="71323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Why is this suspicious?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 sudden spike well above a provider's own normal billing level can indicate a burst of fictitious or inflated claims — especially when it coincides with the co-billing pattern above.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40280"/>
            <a:ext cx="3749039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40280"/>
            <a:ext cx="3749039" cy="7315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3957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Mike Lunettes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2350008"/>
            <a:ext cx="1325880" cy="402336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235000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96/100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2852928"/>
            <a:ext cx="1691640" cy="34747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529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PAYMENTS HELD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79" y="3319272"/>
            <a:ext cx="3474720" cy="56692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34670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62839"/>
                </a:solidFill>
              </a:rPr>
              <a:t>3 spike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where billings were &gt; 5× their own 6-month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690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Also: co-billing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251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85% co-billing rate across all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8280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Two independent signals → score 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2240280"/>
            <a:ext cx="3749039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2240280"/>
            <a:ext cx="3749039" cy="7315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23957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Penthievre Alambics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6248" y="2350008"/>
            <a:ext cx="1325880" cy="402336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35000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78/100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2852928"/>
            <a:ext cx="1691640" cy="34747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28529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PAYMENTS HELD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1688" y="3319272"/>
            <a:ext cx="3474720" cy="56692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334670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62839"/>
                </a:solidFill>
              </a:rPr>
              <a:t>2 spike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36576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where billings were &gt; 5× their own 6-month average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61688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40690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Also: co-billing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43251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94% co-billing rate — highest in dataset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48280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Two independent signals → score 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74736" y="2240280"/>
            <a:ext cx="3749039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74736" y="2240280"/>
            <a:ext cx="3749039" cy="7315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23957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Queen Optics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06456" y="2350008"/>
            <a:ext cx="1325880" cy="402336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06456" y="235000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99/100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11896" y="2852928"/>
            <a:ext cx="1691640" cy="34747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1896" y="285292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PAYMENTS HELD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1896" y="3319272"/>
            <a:ext cx="3474720" cy="56692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03336" y="334670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62839"/>
                </a:solidFill>
              </a:rPr>
              <a:t>3 spike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36576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where billings were &gt; 5× their own 6-month average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1896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3336" y="406908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Also: co-billing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43251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96% co-billing rate — near-universal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48280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Two independent signals → score 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0807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</a:rPr>
              <a:t>When two unrelated fraud signals appear simultaneously it dramatically increases confidence the provider is acting fraudulently.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Pattern 3 — Identical Amounts Billed Repeatedly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The exact same euro amount appearing 3 or more times within a 12-month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09728" cy="6858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Why is this suspicious?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Real claims vary naturally. When the exact same euro amount appears over and over for the same provider and product category, it suggests the claims may be copy-pasted fabrications rather than genuine billing.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12848"/>
            <a:ext cx="5440680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12848"/>
            <a:ext cx="5440680" cy="7315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Runner Glasses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313432"/>
            <a:ext cx="1170432" cy="402336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313432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74/100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79776"/>
            <a:ext cx="1691640" cy="34747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797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PAYMENTS HELD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46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Three separate repeated-amount patterns detected: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5074920" cy="3200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8444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58444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584448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How many times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13632"/>
            <a:ext cx="50749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€ 850.00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393192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39319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4 times in 12 months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61104"/>
            <a:ext cx="5074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279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€ 320.00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42793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Contacts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2793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3 times in 12 months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08576"/>
            <a:ext cx="50749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6268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€ 650.00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9968" y="46268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Glasses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3008" y="46268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3 times in 12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29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2839"/>
                </a:solidFill>
              </a:rPr>
              <a:t>Also had co-billing in 55% of months → total score 74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212848"/>
            <a:ext cx="5806440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60" y="2212848"/>
            <a:ext cx="5806440" cy="7315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3591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Les Lunettes à Soso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2313432"/>
            <a:ext cx="1170432" cy="402336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2313432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84/100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779776"/>
            <a:ext cx="1691640" cy="34747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277977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PAYMENTS HELD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246120"/>
            <a:ext cx="5486400" cy="36576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273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only provider to trigger all three patterns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657600"/>
            <a:ext cx="5486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368503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Co-billing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6850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77% of months had both glasses + contacts billed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22452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2519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Billing spike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 month jumped to over 5× their normal billing level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791456"/>
            <a:ext cx="5486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8188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40"/>
                </a:solidFill>
              </a:rPr>
              <a:t>Repeated amounts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8188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 separate amounts repeated 3+ times each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394960"/>
            <a:ext cx="5486400" cy="6858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54589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2839"/>
                </a:solidFill>
              </a:rPr>
              <a:t>Three separate, independent signals → highest confidence fraud case in the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Pattern 4 — Systematic Round-Number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Providers who consistently bill exact round sums (e.g. 300€, 600€) rather than realistic irregular amounts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7772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09728" cy="7772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Why is this suspicious?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Real optical purchases — glasses frames, lenses, fitting — never add up to a perfectly round number. Amounts like €349.91 or €127.50 reflect actual product pricing. When a provider bills €300.00, €600.00, €200.00 every single month with no variation in cents, it strongly suggests fabricated charges rather than genuine sales.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55778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31720"/>
            <a:ext cx="5577840" cy="7315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Runner Glasses — Contacts billing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07792"/>
            <a:ext cx="5212080" cy="56692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93522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839"/>
                </a:solidFill>
              </a:rPr>
              <a:t>100% of Lentilles claims are round multiples of 100€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84448"/>
            <a:ext cx="5212080" cy="3200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02736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02736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02736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Round?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21208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April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950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300,00 €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9502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839"/>
                </a:solidFill>
              </a:rPr>
              <a:t>✓ Round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42816"/>
            <a:ext cx="5212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26110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June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0048" y="426110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300,00 €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42611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839"/>
                </a:solidFill>
              </a:rPr>
              <a:t>✓ Round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53712"/>
            <a:ext cx="521208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57200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September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457200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300,00 €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57200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839"/>
                </a:solidFill>
              </a:rPr>
              <a:t>✓ Round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64608"/>
            <a:ext cx="5212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8828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October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488289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600,00 €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88289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839"/>
                </a:solidFill>
              </a:rPr>
              <a:t>✓ Round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75504"/>
            <a:ext cx="521208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19379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December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0048" y="519379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600,00 €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51937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839"/>
                </a:solidFill>
              </a:rPr>
              <a:t>✓ Round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486400"/>
            <a:ext cx="52120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50468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April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0048" y="550468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200,00 €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55046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2839"/>
                </a:solidFill>
              </a:rPr>
              <a:t>✓ Round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2331720"/>
            <a:ext cx="58521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2331720"/>
            <a:ext cx="5852160" cy="7315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2468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40"/>
                </a:solidFill>
              </a:rPr>
              <a:t>Compare: Lunettes (glasses) — same provider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85292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Glasses amounts look realistic — irregular cents, normal price variation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246120"/>
            <a:ext cx="544068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326440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April 2022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32644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349,91 €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32644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Realistic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557015"/>
            <a:ext cx="5440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3575303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June 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327" y="3575303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449,91 €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85248" y="3575303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Realistic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867911"/>
            <a:ext cx="544068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388620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September 2022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9327" y="388620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349,91 €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388620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Realistic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178808"/>
            <a:ext cx="5440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419709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October 2022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327" y="419709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699,82 €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419709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Realistic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4489704"/>
            <a:ext cx="5440680" cy="2926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27648" y="450799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December 2022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9327" y="450799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349,91 €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85248" y="45079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Realistic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4800600"/>
            <a:ext cx="54406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7648" y="481888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April 2023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9327" y="481888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564,82 €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85248" y="48188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Realistic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166360"/>
            <a:ext cx="5440680" cy="6858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27648" y="52120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Same provider, same months — glasses have real prices, contacts are always round numbers. The contacts charges appear fabricated.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62636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This pattern also appears in Roudoudou Lentilles, Kylian's Frames, and most other flagged providers.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440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Detection System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How did we turn these
patterns into a system?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4 automated detection rules · risk scoring pipeline · instant routing of every provider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Detection Engine — 4 Rules, Automatically Applied to Every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Each rule adds points to a provider's risk score. Final score 0–100 determines what happens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788920" cy="35204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788920" cy="4389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Billing Spike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340864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Flag any month where a provider's total billings are more than 5× higher than their own rolling 6-month average for that product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90672"/>
            <a:ext cx="2788920" cy="27432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Logic: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089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current month &gt; 5 × 6-month median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27889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590288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+20 points per spiked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1417320"/>
            <a:ext cx="2788920" cy="35204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18688" y="1417320"/>
            <a:ext cx="2788920" cy="4389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Rule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Systematic Co-Billing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340864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Flag providers who bill both glasses and contacts in the same month for the majority of their active months (≥ 50%). Occasional overlap is normal; systematic overlap is not.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3090672"/>
            <a:ext cx="2788920" cy="27432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Logic: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7" y="31089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≥ 50% of months have both categories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18688" y="4572000"/>
            <a:ext cx="27889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590288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12–25 pts  (scales with rate)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1417320"/>
            <a:ext cx="2788920" cy="35204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1417320"/>
            <a:ext cx="2788920" cy="4389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Rule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Repeated Identical Amount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340864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Flag any (provider, category) pair where the exact same euro amount appears 3 or more times within any rolling 12-month window. Real billing varies naturally.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3090672"/>
            <a:ext cx="2788920" cy="27432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Logic: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31089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same € amount ≥ 3× in 12-month window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4572000"/>
            <a:ext cx="27889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4590288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+15 points per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07424" y="1417320"/>
            <a:ext cx="2788920" cy="35204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07424" y="1417320"/>
            <a:ext cx="2788920" cy="4389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14447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Rule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19202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Round Number Billing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340864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Flag providers where ≥ 70% of claims in a category are whole euro amounts (no cents). Real optical purchases have irregular amounts like 349.91€.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07424" y="3090672"/>
            <a:ext cx="2788920" cy="27432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4584" y="3108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Logic: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3224" y="31089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≥ 70% of claims are whole euros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07424" y="4572000"/>
            <a:ext cx="27889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0576" y="4590288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+15 points per category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074920"/>
            <a:ext cx="11640312" cy="3200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0932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What happens to the score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440680"/>
            <a:ext cx="352044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4589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Cleared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82472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Score =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0990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No flags — approved automatically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60520" y="5440680"/>
            <a:ext cx="3520440" cy="10058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59" y="54589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Under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59" y="582472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Score 1–70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59" y="60990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At least one signal — human reviews 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5440680"/>
            <a:ext cx="3520440" cy="100584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54589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Payments Held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582472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Score &gt; 70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60990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Strong evidence — payments suspended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32120"/>
            <a:ext cx="12188952" cy="1325880"/>
          </a:xfrm>
          <a:prstGeom prst="rect">
            <a:avLst/>
          </a:prstGeom>
          <a:solidFill>
            <a:srgbClr val="0D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CCCC"/>
                </a:solidFill>
              </a:rPr>
              <a:t>Beyond the analysis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 built a working system
around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The detection logic above is packaged into a full web application that an ops team can actually use day-to-day: upload new claims, run detection with one click, and review every flagged provider with full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49039"/>
            <a:ext cx="2743200" cy="155448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743200" cy="914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27939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Live risk scores, flagged provider count, recent review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3749039"/>
            <a:ext cx="2743200" cy="155448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3749039"/>
            <a:ext cx="2743200" cy="9144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39136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Provider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427939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Run detection · search and filter · see every provider's risk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749039"/>
            <a:ext cx="2743200" cy="155448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749039"/>
            <a:ext cx="274320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9136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27939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Click any provider to see exactly which claims triggered each 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3749039"/>
            <a:ext cx="2743200" cy="1554480"/>
          </a:xfrm>
          <a:prstGeom prst="rect">
            <a:avLst/>
          </a:prstGeom>
          <a:solidFill>
            <a:srgbClr val="26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3749039"/>
            <a:ext cx="274320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39136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Review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427939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Submit a decision on any provider — approve, escalate, or blacklist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509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88AA"/>
                </a:solidFill>
              </a:rPr>
              <a:t>Built with  Next.js + TypeScript  ·  Python FastAPI  ·  PostgreSQL  ·  Full FR/EN localisation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38928"/>
            <a:ext cx="11155680" cy="347472"/>
          </a:xfrm>
          <a:prstGeom prst="rect">
            <a:avLst/>
          </a:prstGeom>
          <a:solidFill>
            <a:srgbClr val="0D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66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🌐  Live demo:  alan-production-0d14.up.railway.app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440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 should happen
with these providers?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Immediate actions · system limitations · how to improve detection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Immediate Action Required — Payments Held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5 providers automatically held — strong evidence across multiple independent fraud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32004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356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Provider  / 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4356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Signals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4356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Recommended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83080"/>
            <a:ext cx="11640312" cy="89611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83080"/>
            <a:ext cx="91440" cy="8961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3794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Queen optics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58568"/>
            <a:ext cx="1188720" cy="329184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585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99/100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1837943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Co-billing · billing spike · round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13055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96% of months had both glasses + contacts. 3 spike months. All contacts claims are whole euros.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19842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Full audit + suspend all pending 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15768"/>
            <a:ext cx="11640312" cy="89611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715768"/>
            <a:ext cx="91440" cy="8961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06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Mike lunettes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91256"/>
            <a:ext cx="1188720" cy="329184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912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96/100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277063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Co-billing · billing spike · round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06323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85% co-billing rate. 3 spike months above 5× their 6-month average.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29169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Full audit + suspend all pending payments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48456"/>
            <a:ext cx="11640312" cy="89611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648456"/>
            <a:ext cx="91440" cy="8961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Les lunettes à Soso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23944"/>
            <a:ext cx="1188720" cy="329184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2394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84/100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37033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Co-billing · spike · repeated amounts · round numbers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39959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Only provider to trigger all 4 rules. 4 completely independent fraud signals.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384962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Priority audit — highest confidence fraud case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81144"/>
            <a:ext cx="11640312" cy="89611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581144"/>
            <a:ext cx="91440" cy="8961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63600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Penthievre alambics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56631"/>
            <a:ext cx="1188720" cy="329184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56631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78/100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4636007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Co-billing · billing spike · round numbers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4928616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94% co-billing rate — highest in dataset. 2 spike months.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3448" y="47823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Full audit + suspend all pending payments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513832"/>
            <a:ext cx="11640312" cy="896112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513832"/>
            <a:ext cx="91440" cy="896112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56869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Runner glasses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989320"/>
            <a:ext cx="1188720" cy="329184"/>
          </a:xfrm>
          <a:prstGeom prst="rect">
            <a:avLst/>
          </a:prstGeom>
          <a:solidFill>
            <a:srgbClr val="D62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9893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74/100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30168" y="556869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2839"/>
                </a:solidFill>
              </a:rPr>
              <a:t>Co-billing · repeated amounts · round numbers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0168" y="5861304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55% co-billing. 3 repeated-amount patterns. All contacts: exact round euros.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3448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40"/>
                </a:solidFill>
              </a:rPr>
              <a:t>Audit focus on fabricated contacts charges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Under Review &amp; Cleared Providers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3 providers flagged for manual review · 4 providers fully cleared with no suspicious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3200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447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Flagged for manual review  —  score below auto-hold threshold but patterns present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11640312" cy="749808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783080"/>
            <a:ext cx="91440" cy="7498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984248"/>
            <a:ext cx="1188720" cy="32918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54/100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3794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Kylian's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671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Co-billing (76%) · billing spike · round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9476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Below the 70-point hold threshold but has 3 signals. Recommend manual review before next payment cycle.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87752"/>
            <a:ext cx="11640312" cy="749808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587752"/>
            <a:ext cx="91440" cy="7498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1188720" cy="32918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88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40/100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642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Roudoudou lentilles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71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Systematic co-billing (100% of months) · round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752344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Every single active month had both categories billed. Low total due to no spike. Review co-billing pattern.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92424"/>
            <a:ext cx="11640312" cy="749808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392424"/>
            <a:ext cx="91440" cy="7498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93592"/>
            <a:ext cx="1188720" cy="32918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59359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15/100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34472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</a:rPr>
              <a:t>Voodoo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776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Round number billing 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557016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Low score but whole-euro billing pattern present. Monitor — flag for review if pattern continues next cycle.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206240"/>
            <a:ext cx="1164031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233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Cleared — no suspicious patterns detected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72000"/>
            <a:ext cx="2816352" cy="777240"/>
          </a:xfrm>
          <a:prstGeom prst="rect">
            <a:avLst/>
          </a:prstGeom>
          <a:solidFill>
            <a:srgbClr val="F0F9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4645152"/>
            <a:ext cx="100584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6451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0/100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681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La classe à Dallas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No flags raised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2112" y="4572000"/>
            <a:ext cx="2816352" cy="777240"/>
          </a:xfrm>
          <a:prstGeom prst="rect">
            <a:avLst/>
          </a:prstGeom>
          <a:solidFill>
            <a:srgbClr val="F0F9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4645152"/>
            <a:ext cx="100584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46451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0/100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2" y="4681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Cool optics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No flags raised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9904" y="4572000"/>
            <a:ext cx="2816352" cy="777240"/>
          </a:xfrm>
          <a:prstGeom prst="rect">
            <a:avLst/>
          </a:prstGeom>
          <a:solidFill>
            <a:srgbClr val="F0F9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9632" y="4645152"/>
            <a:ext cx="100584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2" y="46451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0/100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4681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abc optic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No flags raised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97696" y="4572000"/>
            <a:ext cx="2816352" cy="777240"/>
          </a:xfrm>
          <a:prstGeom prst="rect">
            <a:avLst/>
          </a:prstGeom>
          <a:solidFill>
            <a:srgbClr val="F0F9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07424" y="4645152"/>
            <a:ext cx="100584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07424" y="46451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0/100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6416" y="4681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22 optics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7424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No flags raised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440"/>
                </a:solidFill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31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to Improve Detection Over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Current system catches clear patterns — here's how to make it more precise and harder to game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Alan Assurance · Fraud Detection Case ·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715000" cy="914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81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Member-level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1A78C2"/>
                </a:solidFill>
              </a:rPr>
              <a:t>Get individual claim-level data instead of monthly aggregates.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219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Currently we detect co-billing at the provider level — we can't confirm it's the same patient being billed for both glasses and contacts. With member IDs per claim, we could detect the exact fraud scenario: one patient billed for both products in the same month.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72968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8C2"/>
                </a:solidFill>
              </a:rPr>
              <a:t>→  Higher precision · fewer false positives · unambiguous evidence for legal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5715000" cy="9144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81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Geographic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7A8E"/>
                </a:solidFill>
              </a:rPr>
              <a:t>Flag multiple providers operating from the same address.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2199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 network of opticians run by the same owner could each stay below the scoring threshold individually while collectively committing large-scale fraud. Address matching and network analysis would catch coordinated schemes invisible to per-provider rules.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172968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186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A8E"/>
                </a:solidFill>
              </a:rPr>
              <a:t>→  Detects organised fraud rings · cross-provider 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13048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13048"/>
            <a:ext cx="571500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Seasonal calibration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5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07B39"/>
                </a:solidFill>
              </a:rPr>
              <a:t>Adjust rolling medians to account for known seasonal spikes.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Legitimate sales spikes occur every December (gift-giving) and September (back to school). A spike rule that doesn't account for seasonality will generate false positives for honest providers during these periods, wasting reviewer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68696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144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</a:rPr>
              <a:t>→  Fewer false positives · reviewer trust maintained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813048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813048"/>
            <a:ext cx="571500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440"/>
                </a:solidFill>
              </a:rPr>
              <a:t>Machine learning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15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2E7D32"/>
                </a:solidFill>
              </a:rPr>
              <a:t>Train a model on confirmed fraud cases to replace fixed point weights.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17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The current 4-rule system uses fixed scores (+20, +25, +15, +15) that were chosen manually. A supervised ML model trained on confirmed fraud outcomes would learn which combinations of signals are most predictive — and weight them accordingly.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5568696"/>
            <a:ext cx="5303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6144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→  Dynamic weights · adapts as fraud patterns evolve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