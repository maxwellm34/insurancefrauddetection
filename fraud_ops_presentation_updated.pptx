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A623"/>
                </a:solidFill>
              </a:rPr>
              <a:t>ALAN ASSURANCE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Ops Runner — Technical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CCCCCC"/>
                </a:solidFill>
              </a:rPr>
              <a:t>Fraud Detection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Analysis &amp; Improvements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5 auto-held  ·  2 need review  ·  3 detection rules  ·  Full scoring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</a:rPr>
              <a:t>March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Dataset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44444"/>
                </a:solidFill>
              </a:rPr>
              <a:t>Source: ops_runner_technical_case_fraud_07-2023.csv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2560320" cy="12801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Providers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6888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F5F5"/>
                </a:solidFill>
              </a:rPr>
              <a:t>Optical shops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463040"/>
            <a:ext cx="2560320" cy="128016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15544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221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148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Claims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6888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F5F5"/>
                </a:solidFill>
              </a:rPr>
              <a:t>Reimbursement records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1463040"/>
            <a:ext cx="2560320" cy="128016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15544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18 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148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Date 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46888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F5F5"/>
                </a:solidFill>
              </a:rPr>
              <a:t>Jan 2022 – Jun 2023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5360" y="1463040"/>
            <a:ext cx="2560320" cy="12801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0" y="15544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€X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148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Total Amount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246888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F5F5"/>
                </a:solidFill>
              </a:rPr>
              <a:t>Reimbursed to providers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017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Categories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832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Lunettes (glasses)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7307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Lentilles (contact lenses)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3017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Data Format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38328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Monthly aggregate totals per (provider, category, month)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730752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No individual claim or member-level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078224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221 rows — one per (provider × category × month) combination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Provider Risk Scores — Full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11640312" cy="3657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14813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0752" y="14813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76672" y="14813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4032" y="14813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Flags Triggered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874519"/>
            <a:ext cx="11640312" cy="34747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91109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Penthievre alambics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0752" y="191109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6672" y="1911095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4032" y="191109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dual_product (+47), monthly_spike (+60)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221991"/>
            <a:ext cx="11640312" cy="34747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2258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Queen optics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0752" y="2258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6672" y="2258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2" y="225856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dual_product (+48), monthly_spike (+90)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569463"/>
            <a:ext cx="11640312" cy="34747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260603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Runner glasses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30752" y="260603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6672" y="2606039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2606039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dual_product (+28), repeated_amount (+60)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916935"/>
            <a:ext cx="11640312" cy="34747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" y="2953511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Les lunettes à Soso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30752" y="2953511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76672" y="295351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2953511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dual_product (+39), monthly_spike (+30), repeated_amount (+40)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264407"/>
            <a:ext cx="11640312" cy="34747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" y="3300983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Mike lunettes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30752" y="330098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76672" y="330098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4032" y="3300983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dual_product (+43), monthly_spike (+90)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611879"/>
            <a:ext cx="1164031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7472" y="364845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Kylian's frames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30752" y="364845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76672" y="3648455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Review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14032" y="364845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dual_product (+38), monthly_spike (+30)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3959351"/>
            <a:ext cx="1164031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" y="399592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Roudoudou lentilles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30752" y="39959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76672" y="399592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Review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14032" y="3995927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dual_product (+50)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306823"/>
            <a:ext cx="11640312" cy="347472"/>
          </a:xfrm>
          <a:prstGeom prst="rect">
            <a:avLst/>
          </a:prstGeom>
          <a:solidFill>
            <a:srgbClr val="EBF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7472" y="434339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Voodoo optics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30752" y="434339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76672" y="4343399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Approved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4343399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4654295"/>
            <a:ext cx="11640312" cy="347472"/>
          </a:xfrm>
          <a:prstGeom prst="rect">
            <a:avLst/>
          </a:prstGeom>
          <a:solidFill>
            <a:srgbClr val="EBF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7472" y="4690871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abc optics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30752" y="4690871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76672" y="469087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Approved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14032" y="4690871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5001767"/>
            <a:ext cx="11640312" cy="347472"/>
          </a:xfrm>
          <a:prstGeom prst="rect">
            <a:avLst/>
          </a:prstGeom>
          <a:solidFill>
            <a:srgbClr val="EBF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7472" y="5038343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Cool optics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30752" y="503834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76672" y="503834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Approved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14032" y="5038343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5349239"/>
            <a:ext cx="11640312" cy="347472"/>
          </a:xfrm>
          <a:prstGeom prst="rect">
            <a:avLst/>
          </a:prstGeom>
          <a:solidFill>
            <a:srgbClr val="EBF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47472" y="538581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Dallas optics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730752" y="538581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76672" y="5385815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Approved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14032" y="538581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5696711"/>
            <a:ext cx="11640312" cy="347472"/>
          </a:xfrm>
          <a:prstGeom prst="rect">
            <a:avLst/>
          </a:prstGeom>
          <a:solidFill>
            <a:srgbClr val="EBF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7472" y="57332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22 optics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30752" y="57332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76672" y="57332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Approved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14032" y="5733287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74320" y="640080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62839"/>
                </a:solidFill>
              </a:rPr>
              <a:t>5 providers auto-held (score &gt; 70)  ·  2 need review (score 1–70)  ·  5 auto-approved (score = 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Detection Engine — 3 Rules + Scoring Thresholds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3474720" cy="292608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3474720" cy="50292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4173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Rule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Monthly Spike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6-month rolling median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834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per (provider, category)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Flag if current &gt; 5× median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794760"/>
            <a:ext cx="347472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38404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Score +40  (max once per (cat, month))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0" y="1371600"/>
            <a:ext cx="3474720" cy="292608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0" y="1371600"/>
            <a:ext cx="3474720" cy="50292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960" y="14173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Rule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Dual Product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Both Lunettes + Lentilles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2834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billed same 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Flag if ≥ 50% of active months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794760"/>
            <a:ext cx="347472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1960" y="38404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Score = min(80, ratio × 80)  — one flag per provider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55279" y="1371600"/>
            <a:ext cx="3474720" cy="292608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55279" y="1371600"/>
            <a:ext cx="3474720" cy="50292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92440" y="14173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Rule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Repeated Amount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Same € amount ≥ 3×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2834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in rolling 12-month window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per (provider, category)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79" y="3794760"/>
            <a:ext cx="347472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92440" y="38404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Score +30  (one flag per (cat, amount))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480560"/>
            <a:ext cx="11640312" cy="4572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507992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Routing Thresholds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029200"/>
            <a:ext cx="3474720" cy="777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05663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AUTO-APPROVED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42239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score = 0  (no flags)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31920" y="5029200"/>
            <a:ext cx="3474720" cy="7772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23359" y="505663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NEEDS REVIEW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23359" y="542239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 ≤ score ≤ 70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5029200"/>
            <a:ext cx="3474720" cy="77724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79" y="505663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AUTO-HELD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79" y="542239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score &gt; 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598932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</a:rPr>
              <a:t>Final score = sum of all rule contributions, capped at 100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Provider Deep Dive: Kylian's Frames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44444"/>
                </a:solidFill>
              </a:rPr>
              <a:t>Score: 68/100 · Status: Needs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0" y="1508760"/>
            <a:ext cx="1371600" cy="50292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150876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68/100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0" y="2148840"/>
            <a:ext cx="1554480" cy="41148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0" y="214884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NEEDS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Flags Detected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874519"/>
            <a:ext cx="98755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874519"/>
            <a:ext cx="73152" cy="64008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11095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Dual Product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1911095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+38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1911095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Systematic co-billing: 76% of active months had both Lunettes + Lentilles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587752"/>
            <a:ext cx="98755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587752"/>
            <a:ext cx="73152" cy="64008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6243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Monthly Spike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26243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+30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2624328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Monthly spike in Lunettes claims — ratio &gt; 5× rolling median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429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Dual Product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74903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Co-billing months (Lunettes &amp; Lentilles same month)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114800"/>
            <a:ext cx="9601200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4133087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Month / Year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90672" y="4133087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Lunettes (€)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59552" y="4133087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Lentilles (€)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9872" y="4133087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Total (€)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480560"/>
            <a:ext cx="9601200" cy="320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4517136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Jan 2022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90672" y="4517136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850.00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59552" y="4517136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320.00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9872" y="4517136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1 170.00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800600"/>
            <a:ext cx="9601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4837176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Mar 2022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90672" y="4837176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920.00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59552" y="4837176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280.00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19872" y="4837176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1 200.00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120640"/>
            <a:ext cx="9601200" cy="320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5157216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Jun 2022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90672" y="5157216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1 100.00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59552" y="5157216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350.00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19872" y="5157216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1 450.00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440679"/>
            <a:ext cx="9601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" y="5477255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Sep 2022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90672" y="5477255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750.00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59552" y="5477255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290.00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9872" y="5477255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1 040.00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760719"/>
            <a:ext cx="9601200" cy="320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8912" y="5797295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Dec 2022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90672" y="5797295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880.00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59552" y="5797295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310.00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19872" y="5797295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1 190.00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Provider Deep Dive: Roudoudou Lentilles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44444"/>
                </a:solidFill>
              </a:rPr>
              <a:t>Score: 50/100 · Status: Needs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0" y="1508760"/>
            <a:ext cx="1371600" cy="50292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150876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50/100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0" y="2148840"/>
            <a:ext cx="1554480" cy="41148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0" y="214884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NEEDS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Flag Detected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874519"/>
            <a:ext cx="98755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874519"/>
            <a:ext cx="73152" cy="64008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11095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Dual Product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1911095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+80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1911095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Systematic co-billing: 100% of active months had both Lunettes + Lentilles (dual_ratio = 1.0)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43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Summary Statistics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200400"/>
            <a:ext cx="987552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255264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Co-billing ratio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255264"/>
            <a:ext cx="1097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255264"/>
            <a:ext cx="5760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Every active month included both categories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621024"/>
            <a:ext cx="98755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675887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Dual months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675887"/>
            <a:ext cx="1097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12/12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3675887"/>
            <a:ext cx="5760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All 12 active months triggered the rule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041648"/>
            <a:ext cx="987552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096511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Score contribution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096511"/>
            <a:ext cx="1097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+50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096511"/>
            <a:ext cx="5760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min(50, 1.0 × 50) = 50  → needs review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462272"/>
            <a:ext cx="98755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517136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Only rule flagged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517136"/>
            <a:ext cx="1097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Yes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4517136"/>
            <a:ext cx="5760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No monthly spike or repeated amount detected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51206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Note: Score = 80 puts this provider just above the 70-point auto-held threshold. The systematic 100% co-billing rate is the only but definitive signal.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Deep Dive: High-Scoring Providers — Multiple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44444"/>
                </a:solidFill>
              </a:rPr>
              <a:t>Score: 100/100 · Status: Auto-Held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44444"/>
                </a:solidFill>
              </a:rPr>
              <a:t>These providers triggered both Dual Product and Monthly Spike rules: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20240"/>
            <a:ext cx="11430000" cy="384048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947672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1947672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2352" y="1947672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Flag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1947672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Flag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31720"/>
            <a:ext cx="11430000" cy="43891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238658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Mike Lunettes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0672" y="2386584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38658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dual_product (+43)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238658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monthly_spike (+90 = 3×30)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788920"/>
            <a:ext cx="11430000" cy="43891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284378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Penthievre Alambics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0672" y="2843784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2352" y="284378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dual_product (+47)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284378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monthly_spike (+60 = 2×30)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246120"/>
            <a:ext cx="11430000" cy="43891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30098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Queen Optics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0672" y="3300984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2352" y="330098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dual_product (+48)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330098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monthly_spike (+90 = 3×30)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Monthly Spike Pattern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114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Spike occurs when a single month's total exceeds 5× the 6-month rolling median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4622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Often coincides with a dual-billing month — both rules fire simultaneously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09744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Score can exceed 100 before capping — signals very clear fraud pattern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5074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Dual Product Pattern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44068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Co-billing rate &gt; 75% for all three providers → score contribution near 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7881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Scheme: fictitious contact-lens charges added to glasses sales to lower reste à charge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135624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Flag triggers once per provider — one consolidated record with all affected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Deep Dive: Runner Glasses &amp; Les Lunettes à Soso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44444"/>
                </a:solidFill>
              </a:rPr>
              <a:t>Scores: 88/100 and 100/100 · Status: Auto-Held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5669280" cy="502920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440"/>
                </a:solidFill>
              </a:rPr>
              <a:t>Runner Glasses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1508760"/>
            <a:ext cx="1371600" cy="50292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50876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88/100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574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dual_product  +28  (55% dual-billing months)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40487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repeated_amount  +60  (3 flags of +20 each)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80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Repeated Amount Detail: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004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Same €850 (Lunettes) appeared 4× in 12 months  (+20)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4787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Same €320 (Lentilles) appeared 3× in 12 months  (+20)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9534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Same €650 (Lunettes) appeared 3× in 12 months  (+20)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9377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Pattern suggests fixed-price fictitious claims recycled month after month.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417320"/>
            <a:ext cx="5669280" cy="502920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08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Les Lunettes à Soso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247120" y="1508760"/>
            <a:ext cx="1371600" cy="50292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247120" y="150876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100/100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0574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dual_product  +39  (77% dual-billing months)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40487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monthly_spike  +30  (1 spike event)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75234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repeated_amount  +40  (2 flags of +20 each)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2004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Only provider triggering all 3 rules.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566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Strong co-billing pattern (77% of months)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91363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Isolated spike on top of baseline fraud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26110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Two repeated-amount patterns in parallel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60857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Compound risk: multiple independent signals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2120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Highest confidence fraud case in the dataset.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Detection Logic — Improvements Made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44444"/>
                </a:solidFill>
              </a:rPr>
              <a:t>Bugs fixed vs. original naive 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08760"/>
            <a:ext cx="11612880" cy="10515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109728" cy="105156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544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Dual Product — False positives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856231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Before: Original fired for any month with both categories, even occasional ones. Legitimate opticians naturally serve both glasses and contacts customers.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1762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After:  Added ≥ 50% systematic threshold: only flag if co-billing occurs in the majority of active months. Below that, co-occurrence is likely coincidental.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624328"/>
            <a:ext cx="11612880" cy="10515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2624328"/>
            <a:ext cx="109728" cy="105156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670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Dual Product — €0 amounts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971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Before: Original included months where one category had €0 reimbursement (e.g. claim was processed but refunded €0). These are billing artifacts, not fraud signals.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291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After:  Added guard: require cats["Lunettes"] &gt; 0 AND cats["Lentilles"] &gt; 0 before counting a month as a dual-billing month.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739896"/>
            <a:ext cx="11612880" cy="10515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739896"/>
            <a:ext cx="109728" cy="105156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785615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Dual Product — One flag per provider (not per month)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087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Before: Original generated one FraudFlag per qualifying month, inflating flag counts (e.g. 17 flags for a single provider) and making scores incoherent.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074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After:  Changed to one consolidated summary flag per provider with all qualifying months stored in details.months[]. Score scales with dual_ratio (min(80, ratio × 80)).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855464"/>
            <a:ext cx="11612880" cy="10515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855464"/>
            <a:ext cx="109728" cy="105156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901183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Repeated Amount — €0 false positives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202936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Before: A provider with €0.00 amounts repeated ≥ 3× (refund artifacts) triggered the rule.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522975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After:  Added: if amount == 0: continue — zero-amount claims are billing artifacts.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5971031"/>
            <a:ext cx="11612880" cy="10515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5971031"/>
            <a:ext cx="109728" cy="105156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016751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Routing — Any flagged provider now escalated (score &gt; 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318503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Before: Original: score &lt; 30 → auto_approved. Providers with small scores (e.g. 10) slipped through as auto-approved despite having fraud flags.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6385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After:  Changed threshold: score == 0 → auto_approved, any score &gt; 0 → needs_review minimum. No flagged provider is silently approved.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Methodology &amp; Data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Why provider-level co-billing detection?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Ideal check: same member billed for both Lunettes + Lentilles in same 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21991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Source data is monthly aggregates — no individual member IDs available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69463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Seed script generates one synthetic unique member_id per CSV row (not real identifiers)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16935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Provider-level systematic detection is the correct approach for aggregate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383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Score Capping Logic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947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Individual rule scores can sum above 100 (e.g. Queen Optics: +76 + +120 = +196)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42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Final score capped at 100 — scores above 70 all route to auto_held equally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489704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Cap prevents over-penalising individual rules while preserving routing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8463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Possible Improvements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257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Ingest individual claim-level data to enable member-level dual-product detection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052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Add geographic clustering: multiple providers in same address/postal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952744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Seasonal adjustment in spike rule to avoid flagging legitimate holiday spikes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300216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ML model trained on confirmed fraud cases to weight features dynamically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Summary — Flagged Providers &amp; Recommended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44752"/>
            <a:ext cx="11612880" cy="384048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146304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3552" y="146304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8032" y="146304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46304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Rules Triggered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00032" y="146304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Recommended Action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74519"/>
            <a:ext cx="11612880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92938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Les lunettes à Soso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73552" y="192938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8032" y="192938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92938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3 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00032" y="192938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Immediate audit + payment suspension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267712"/>
            <a:ext cx="11612880" cy="384048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232257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Penthievre alambics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3552" y="232257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8032" y="232257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232257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 + spike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232257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Full audit + legal referral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660904"/>
            <a:ext cx="11612880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271576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Queen optics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73552" y="271576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271576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271576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 + spike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271576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Full audit + legal referral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054096"/>
            <a:ext cx="11612880" cy="384048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" y="3108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Runner glasses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73552" y="3108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88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8032" y="3108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3108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 + repeated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0032" y="3108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Full audit — repeated billing pattern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447288"/>
            <a:ext cx="11612880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7472" y="350215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Mike lunettes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73552" y="350215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28032" y="350215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3952" y="350215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 + spike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00032" y="350215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Audit + payment suspension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3840480"/>
            <a:ext cx="11612880" cy="384048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389534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Kylian's frames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73552" y="389534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28032" y="389534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NEEDS REVIEW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3952" y="389534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 + spike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00032" y="389534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Review — borderline score, co-billing pattern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233672"/>
            <a:ext cx="11612880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7472" y="428853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Roudoudou lentilles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73552" y="428853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28032" y="428853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NEEDS REVIEW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3952" y="428853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dual_product only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00032" y="428853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Review — systematic co-billing, monitor closely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4718303"/>
            <a:ext cx="11612880" cy="475488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4745736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5 providers auto-held  ·  2 need review  ·  5 auto-approved  ·  Any provider with score &gt; 0 is flagged for review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