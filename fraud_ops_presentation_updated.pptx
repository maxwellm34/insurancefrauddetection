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an-production-0d14.up.railway.app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88952" cy="20116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</a:rPr>
              <a:t>ALAN ASSURANCE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Ops Runner - Technical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CCCCCC"/>
                </a:solidFill>
              </a:rPr>
              <a:t>Detecting Fraud in Optical Care Claims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5468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</a:rPr>
              <a:t>Alan reimburses optical care claims submitted by opticians. This case asks: can I detect which providers are billing fraudulently - and build a system to catch it automatically?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The Dataset - What We're Working With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615" y="1481328"/>
            <a:ext cx="2743200" cy="141732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44752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44752"/>
            <a:ext cx="2743200" cy="18288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0078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2440"/>
                </a:solidFill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Optical providers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968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Independent optician shops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36976" y="1481328"/>
            <a:ext cx="2743200" cy="141732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0" y="1444752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0" y="1444752"/>
            <a:ext cx="2743200" cy="18288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70078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78C2"/>
                </a:solidFill>
              </a:rPr>
              <a:t>221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Reimbursement claims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25968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Records of money paid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17336" y="1481328"/>
            <a:ext cx="2743200" cy="141732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0760" y="1444752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60" y="1444752"/>
            <a:ext cx="2743200" cy="182880"/>
          </a:xfrm>
          <a:prstGeom prst="rect">
            <a:avLst/>
          </a:prstGeom>
          <a:solidFill>
            <a:srgbClr val="0D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0078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0D7A8E"/>
                </a:solidFill>
              </a:rPr>
              <a:t>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Months of history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5968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January 2022 – June 2023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97696" y="1481328"/>
            <a:ext cx="2743200" cy="141732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61120" y="1444752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61120" y="1444752"/>
            <a:ext cx="2743200" cy="18288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98280" y="170078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E07B39"/>
                </a:solidFill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Claim categories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25968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Lunettes (glasses) · Lentilles (contacts)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218688"/>
            <a:ext cx="5440680" cy="2880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3218688"/>
            <a:ext cx="109728" cy="28803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32918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What a single data row looks like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36393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Each row = one provider's total billings for one category in one month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023360"/>
            <a:ext cx="5074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404164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Provider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06040" y="404164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Kylian's Frames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389120"/>
            <a:ext cx="50749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4074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Category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06040" y="440740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Lunettes (glasses)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754880"/>
            <a:ext cx="5074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" y="47731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06040" y="477316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March 2023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120640"/>
            <a:ext cx="50749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" y="513892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Amount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1389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€ 1 150.00  billed to Alan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218688"/>
            <a:ext cx="5852160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35040" y="3218688"/>
            <a:ext cx="109728" cy="288036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91072" y="329184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The questions to answer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3703320"/>
            <a:ext cx="5577840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373075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Q1: Are there fraud patterns in the data?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400507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Some opticians may be billing for services never provided - or inflating bills. I looked for systematic patterns that distinguish fraud from normal variation.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453128"/>
            <a:ext cx="55778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09360" y="44805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Q2: How do you identify and recover from fraud?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09360" y="47548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Once patterns are found: build automated detection rules, score each provider, and route suspicious ones for investigation and payment suspension.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5202936"/>
            <a:ext cx="5577840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0" y="523036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Q3: What proactive actions prevent future fraud?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0" y="550468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Better data, network analysis, seasonal calibration, and ML scoring to stay ahead of evolving fraud tactics.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440"/>
                </a:solidFill>
              </a:rPr>
              <a:t>QUESTION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Are there any patterns in the data that could indicate fraudulent activity? Have you identified one or several suspicious health professionals?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Yes - 4 fraud patterns
across 8 providers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406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8 out of 12 providers showed at least one red flag · 5 had payments automatically held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Results - Which Providers Look Suspicious?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Each provider is given a risk score 0–100 based on how many suspicious patterns were detected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3657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59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Risk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What was detected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810512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1856231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Queen optics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59" y="185623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1856231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59" y="1856231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 + round numbers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67128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2128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Mike lunettes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59" y="22128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96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221284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59" y="221284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 + round numbers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23744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256946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Les lunettes à Soso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59" y="256946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25694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59" y="256946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 + repeated + round numbers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880360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292608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Penthievre alambics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94759" y="292608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78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292608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59" y="292608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 + round numbers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236976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28269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Runner glasses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94759" y="328269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74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57800" y="3282696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59" y="3282696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repeated amounts + round numbers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593592"/>
            <a:ext cx="11640312" cy="356616"/>
          </a:xfrm>
          <a:prstGeom prst="rect">
            <a:avLst/>
          </a:prstGeom>
          <a:solidFill>
            <a:srgbClr val="FFF6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63931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Kylian's frames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59" y="363931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57800" y="36393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7B39"/>
                </a:solidFill>
              </a:rPr>
              <a:t>Under review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59" y="363931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 + round numbers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3950208"/>
            <a:ext cx="11640312" cy="356616"/>
          </a:xfrm>
          <a:prstGeom prst="rect">
            <a:avLst/>
          </a:prstGeom>
          <a:solidFill>
            <a:srgbClr val="FFF6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99592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Roudoudou lentilles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94759" y="39959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99592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7B39"/>
                </a:solidFill>
              </a:rPr>
              <a:t>Under review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59" y="399592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round numbers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306824"/>
            <a:ext cx="11640312" cy="356616"/>
          </a:xfrm>
          <a:prstGeom prst="rect">
            <a:avLst/>
          </a:prstGeom>
          <a:solidFill>
            <a:srgbClr val="FFF6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3525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Voodoo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4759" y="435254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57800" y="435254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7B39"/>
                </a:solidFill>
              </a:rPr>
              <a:t>Under review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95159" y="435254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Round number billing detected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4663440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4709159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La classe à Dallas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94759" y="4709159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57800" y="4709159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95159" y="4709159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020055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5065775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Cool optics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94759" y="5065775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065775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95159" y="5065775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376671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5422391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abc optic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794759" y="542239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57800" y="5422391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59" y="5422391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5733287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5760" y="577900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22 optics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94759" y="5779007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57800" y="5779007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95159" y="5779007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6163055"/>
            <a:ext cx="11640312" cy="402336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57200" y="6199631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5 providers had payments automatically held  ·  3 flagged for manual review  ·  4 cleared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Pattern 1 - Glasses and Contacts Always Billed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Some opticians systematically claim both Lunettes and Lentilles for the same month, month after month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914400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109728" cy="91440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Why is this suspicious?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73936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In reality, a single patient can't wear both glasses and contact lenses at the same time. An optician billing for both products every single month is likely adding fictitious contact-lens charges to genuine glasses sales - the patient pays less out-of-pocket while Alan absorbs the extra cost.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450592"/>
            <a:ext cx="5742432" cy="37673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450592"/>
            <a:ext cx="5742432" cy="7315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59689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Kylian's Frames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26280" y="2551176"/>
            <a:ext cx="1417320" cy="402336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2551176"/>
            <a:ext cx="1417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54/100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063240"/>
            <a:ext cx="5349240" cy="685800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09067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07B39"/>
                </a:solidFill>
              </a:rPr>
              <a:t>76% of active months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47472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had both Lunettes and Lentilles billed  (10 out of 13 months)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85876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Also had one month where billings suddenly spiked 5× above normal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315968"/>
            <a:ext cx="1691640" cy="34747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31596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NEEDS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35254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Risk score: 54/100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08192" y="2450592"/>
            <a:ext cx="5742432" cy="37673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08192" y="2450592"/>
            <a:ext cx="5742432" cy="7315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1072" y="259689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Roudoudou Lentilles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60152" y="2551176"/>
            <a:ext cx="1417320" cy="402336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60152" y="2551176"/>
            <a:ext cx="1417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40/100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91072" y="3063240"/>
            <a:ext cx="5349240" cy="685800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2512" y="309067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07B39"/>
                </a:solidFill>
              </a:rPr>
              <a:t>100% of active months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347472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had both Lunettes and Lentilles billed  (12 out of 12 months)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1072" y="385876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Every single active month had both categories - 100% of the time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1072" y="4315968"/>
            <a:ext cx="1691640" cy="34747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1072" y="431596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NEEDS REVIEW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65592" y="435254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Risk score: 40/100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Pattern 2 - Sudden Unexplained Billing Spikes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Some providers had months where billings jumped dramatically above their own historical average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71323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109728" cy="71323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Why is this suspicious?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6479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A sudden spike well above a provider's own normal billing level can indicate a burst of fictitious or inflated claims - especially when it coincides with the co-billing pattern above.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240280"/>
            <a:ext cx="3749039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240280"/>
            <a:ext cx="3749039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239572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Mike Lunettes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39" y="2350008"/>
            <a:ext cx="1325880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06039" y="2350008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96/100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79" y="2852928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79" y="285292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79" y="3319272"/>
            <a:ext cx="3474720" cy="56692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346704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62839"/>
                </a:solidFill>
              </a:rPr>
              <a:t>3 spike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6576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where billings were &gt; 5× their own 6-month average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79" y="4023360"/>
            <a:ext cx="347472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06908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Also: co-billing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32511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85% co-billing rate across all months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79" y="477316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Two independent signals → score 100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24528" y="2240280"/>
            <a:ext cx="3749039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24528" y="2240280"/>
            <a:ext cx="3749039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1688" y="239572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Penthievre Alambics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56248" y="2350008"/>
            <a:ext cx="1325880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2350008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78/100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61688" y="2852928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61688" y="285292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61688" y="3319272"/>
            <a:ext cx="3474720" cy="56692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53128" y="3346704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62839"/>
                </a:solidFill>
              </a:rPr>
              <a:t>2 spike months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53128" y="36576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where billings were &gt; 5× their own 6-month average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61688" y="4023360"/>
            <a:ext cx="347472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53128" y="406908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Also: co-billing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432511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94% co-billing rate - highest in dataset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61688" y="477316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Two independent signals → score 100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74736" y="2240280"/>
            <a:ext cx="3749039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74736" y="2240280"/>
            <a:ext cx="3749039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11896" y="239572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Queen Optics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06456" y="2350008"/>
            <a:ext cx="1325880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06456" y="2350008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99/100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11896" y="2852928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11896" y="285292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11896" y="3319272"/>
            <a:ext cx="3474720" cy="56692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03336" y="3346704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62839"/>
                </a:solidFill>
              </a:rPr>
              <a:t>3 spike months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03336" y="36576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where billings were &gt; 5× their own 6-month average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11896" y="4023360"/>
            <a:ext cx="347472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03336" y="406908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Also: co-billing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03336" y="432511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96% co-billing rate - near-universal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11896" y="477316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Two independent signals → score 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" y="576072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44444"/>
                </a:solidFill>
              </a:rPr>
              <a:t>When two unrelated fraud signals appear simultaneously it dramatically increases confidence the provider is acting fraudulently.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Pattern 3 - Identical Amounts Billed Repeatedly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The exact same euro amount appearing 3 or more times within a 12-month period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109728" cy="82296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Why is this suspicious?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6479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Real claims vary naturally. When the exact same euro amount appears over and over for the same provider and product category, it suggests the claims may be copy-pasted fabrications rather than genuine billing.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377440"/>
            <a:ext cx="5440680" cy="37947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377440"/>
            <a:ext cx="5440680" cy="73152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5237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Runner Glasses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2478024"/>
            <a:ext cx="1170432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60520" y="2478024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74/100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44368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94436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40156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Three separate repeated-amount patterns detected: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721608"/>
            <a:ext cx="5074920" cy="3200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739896"/>
            <a:ext cx="1371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Amount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739896"/>
            <a:ext cx="1371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Category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739896"/>
            <a:ext cx="1371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How many times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069080"/>
            <a:ext cx="507492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0873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€ 850.00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29968" y="4087368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Glasses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93008" y="4087368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4 times in 12 months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416552"/>
            <a:ext cx="5074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43484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€ 320.00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9968" y="443484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Contacts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4434840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3 times in 12 months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64024"/>
            <a:ext cx="507492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782312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€ 650.00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29968" y="4782312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Glasses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93008" y="4782312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3 times in 12 months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16636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2839"/>
                </a:solidFill>
              </a:rPr>
              <a:t>Also had co-billing in 55% of months → total score 74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2377440"/>
            <a:ext cx="5806440" cy="37947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2377440"/>
            <a:ext cx="5806440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63640" y="252374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Les Lunettes à Soso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424160" y="2478024"/>
            <a:ext cx="1170432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24160" y="2478024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84/100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2944368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63640" y="294436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3401568"/>
            <a:ext cx="5486400" cy="36576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342900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The only provider to trigger all three patterns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3822191"/>
            <a:ext cx="548640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38496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Co-billing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3849624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77% of months had both glasses + contacts billed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4352544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0" y="437997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Billing spike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379976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1 month jumped to over 5× their normal billing level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63640" y="4882896"/>
            <a:ext cx="548640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0" y="49103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Repeated amounts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4910328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2 separate amounts repeated 3+ times each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63640" y="5468112"/>
            <a:ext cx="5486400" cy="594360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00800" y="5513832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2839"/>
                </a:solidFill>
              </a:rPr>
              <a:t>Three separate, independent signals → highest confidence fraud case in the dataset.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Pattern 4 - Systematic Round-Number Billing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Providers who consistently bill exact round sums (e.g. 300€, 600€) rather than realistic irregular amounts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77724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109728" cy="77724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Why is this suspicious?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6479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Real optical purchases - glasses frames, lenses, fitting - never add up to a perfectly round number. Amounts like €349.91 or €127.50 reflect actual product pricing. When a provider bills €300.00, €600.00, €200.00 every single month with no variation in cents, it strongly suggests fabricated charges rather than genuine sales.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331720"/>
            <a:ext cx="557784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331720"/>
            <a:ext cx="5577840" cy="73152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468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Runner Glasses - Contacts billing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907792"/>
            <a:ext cx="5212080" cy="56692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935224"/>
            <a:ext cx="4983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62839"/>
                </a:solidFill>
              </a:rPr>
              <a:t>100% of Lentilles claims are round multiples of 100€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84448"/>
            <a:ext cx="5212080" cy="3200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602736"/>
            <a:ext cx="16459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Period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3602736"/>
            <a:ext cx="16459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Amount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602736"/>
            <a:ext cx="16459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Round?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31920"/>
            <a:ext cx="52120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95020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April 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70048" y="395020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300,00 €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395020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42816"/>
            <a:ext cx="52120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4261104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June 2022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70048" y="4261104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300,00 €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8" y="4261104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553712"/>
            <a:ext cx="52120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572000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September 2022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70048" y="4572000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300,00 €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7408" y="4572000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864608"/>
            <a:ext cx="52120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4882896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October 2022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4882896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600,00 €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07408" y="4882896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175504"/>
            <a:ext cx="52120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5193792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December 2022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70048" y="5193792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600,00 €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07408" y="5193792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5486400"/>
            <a:ext cx="52120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550468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April 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70048" y="550468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200,00 €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07408" y="550468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2331720"/>
            <a:ext cx="585216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35040" y="2331720"/>
            <a:ext cx="5852160" cy="7315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17920" y="246888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Compare: Lunettes (glasses) - same provider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7920" y="2852928"/>
            <a:ext cx="5440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Glasses amounts look realistic - irregular cents, normal price variation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0" y="3246120"/>
            <a:ext cx="54406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27648" y="326440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April 2022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39327" y="326440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349,91 €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85248" y="326440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17920" y="3557015"/>
            <a:ext cx="5440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27648" y="3575303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June 2022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39327" y="3575303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449,91 €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85248" y="3575303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17920" y="3867911"/>
            <a:ext cx="54406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27648" y="3886200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September 2022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39327" y="3886200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349,91 €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85248" y="3886200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17920" y="4178808"/>
            <a:ext cx="5440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27648" y="4197096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October 2022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39327" y="4197096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699,82 €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85248" y="4197096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17920" y="4489704"/>
            <a:ext cx="54406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27648" y="4507992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December 2022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39327" y="4507992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349,91 €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85248" y="4507992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17920" y="4800600"/>
            <a:ext cx="5440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27648" y="481888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April 2023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39327" y="481888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564,82 €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85248" y="481888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166360"/>
            <a:ext cx="5440680" cy="685800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27648" y="521208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Same provider, same months - glasses have real prices, contacts are always round numbers. The contacts charges appear fabricated.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4320" y="6263640"/>
            <a:ext cx="11612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444444"/>
                </a:solidFill>
              </a:rPr>
              <a:t>This pattern also appears in Roudoudou Lentilles, Kylian's Frames, and most other flagged providers.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440"/>
                </a:solidFill>
              </a:rPr>
              <a:t>QUESTION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How would you identify if this trend could be related to fraud? What methods would you consider to investigate and potentially recover any misappropriated funds?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Automated scoring +
payment suspension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406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4 detection rules applied to every provider · risk score routes each case · payments held where evidence is strong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The Detection Engine - 4 Rules, Automatically Applied to Every Provider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Each rule adds points to a provider's risk score. Final score 0–100 determines what happens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2788920" cy="3520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2788920" cy="4389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144475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9202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Billing Spike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2340864"/>
            <a:ext cx="2514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Flag any month where a provider's total billings are more than 5× higher than their own rolling 6-month average for that product category.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090672"/>
            <a:ext cx="2788920" cy="27432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31089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A623"/>
                </a:solidFill>
              </a:rPr>
              <a:t>Logic: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10896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current month &gt; 5 × 6-month median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572000"/>
            <a:ext cx="278892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4590288"/>
            <a:ext cx="26426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+20 points per spiked month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18688" y="1417320"/>
            <a:ext cx="2788920" cy="3520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18688" y="1417320"/>
            <a:ext cx="2788920" cy="4389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55848" y="144475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Rule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5848" y="19202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Systematic Co-Billing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340864"/>
            <a:ext cx="2514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Flag providers who bill both glasses and contacts in the same month for the majority of their active months (≥ 50%). Occasional overlap is normal; systematic overlap is not.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18688" y="3090672"/>
            <a:ext cx="2788920" cy="27432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55848" y="31089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A623"/>
                </a:solidFill>
              </a:rPr>
              <a:t>Logic: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4487" y="310896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≥ 50% of months have both categories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18688" y="4572000"/>
            <a:ext cx="278892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1840" y="4590288"/>
            <a:ext cx="26426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12–25 pts  (scales with rate)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63056" y="1417320"/>
            <a:ext cx="2788920" cy="3520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3056" y="1417320"/>
            <a:ext cx="2788920" cy="4389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0216" y="144475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Rule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19202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Repeated Identical Amount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0216" y="2340864"/>
            <a:ext cx="2514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Flag any (provider, category) pair where the exact same euro amount appears 3 or more times within any rolling 12-month window. Real billing varies naturally.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3056" y="3090672"/>
            <a:ext cx="2788920" cy="27432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0216" y="31089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A623"/>
                </a:solidFill>
              </a:rPr>
              <a:t>Logic: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48856" y="310896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same € amount ≥ 3× in 12-month window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63056" y="4572000"/>
            <a:ext cx="278892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8" y="4590288"/>
            <a:ext cx="26426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+15 points per pattern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07424" y="1417320"/>
            <a:ext cx="2788920" cy="3520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07424" y="1417320"/>
            <a:ext cx="2788920" cy="4389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44584" y="144475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Rule 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44584" y="19202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Round Number Billing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4584" y="2340864"/>
            <a:ext cx="2514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Flag providers where ≥ 70% of claims in a category are whole euro amounts (no cents). Real optical purchases have irregular amounts like 349.91€.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07424" y="3090672"/>
            <a:ext cx="2788920" cy="27432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44584" y="31089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A623"/>
                </a:solidFill>
              </a:rPr>
              <a:t>Logic: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93224" y="310896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≥ 70% of claims are whole euros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07424" y="4572000"/>
            <a:ext cx="278892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80576" y="4590288"/>
            <a:ext cx="26426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+15 points per category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5074920"/>
            <a:ext cx="11640312" cy="3200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509320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What happens to the score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5440680"/>
            <a:ext cx="3520440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5458968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Cleared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582472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Score =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09904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</a:rPr>
              <a:t>No flags - approved automatically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60520" y="5440680"/>
            <a:ext cx="3520440" cy="10058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51959" y="5458968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Under Review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51959" y="582472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Score 1–70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51959" y="609904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</a:rPr>
              <a:t>At least one signal - human reviews it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046720" y="5440680"/>
            <a:ext cx="3520440" cy="100584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38160" y="5458968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8160" y="582472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Score &gt; 70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38160" y="609904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</a:rPr>
              <a:t>Strong evidence - payments suspended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Immediate Action Required - Payments Held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5 providers automatically held - strong evidence across multiple independent fraud signals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3200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43560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Provider  / 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143560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Signals detected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3448" y="143560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Recommended action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783080"/>
            <a:ext cx="11640312" cy="89611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1783080"/>
            <a:ext cx="91440" cy="8961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837943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Queen optics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58568"/>
            <a:ext cx="1188720" cy="329184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258568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99/100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1837943"/>
            <a:ext cx="3154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Co-billing · billing spike · round numbers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0168" y="2130552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96% of months had both glasses + contacts. 3 spike months. All contacts claims are whole euros.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198424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Full audit + suspend all pending payments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715768"/>
            <a:ext cx="11640312" cy="89611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2715768"/>
            <a:ext cx="91440" cy="8961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77063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Mike lunettes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191256"/>
            <a:ext cx="1188720" cy="329184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191256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96/100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0168" y="2770632"/>
            <a:ext cx="3154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Co-billing · billing spike · round numbers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3063239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85% co-billing rate. 3 spike months above 5× their 6-month average.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13448" y="2916936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Full audit + suspend all pending payments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648456"/>
            <a:ext cx="11640312" cy="89611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" y="3648456"/>
            <a:ext cx="91440" cy="8961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703320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Les lunettes à Soso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123944"/>
            <a:ext cx="1188720" cy="329184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123944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84/100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3703320"/>
            <a:ext cx="3154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Co-billing · spike · repeated amounts · round numbers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30168" y="3995928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Only provider to trigger all 4 rules. 4 completely independent fraud signals.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13448" y="3849624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Priority audit - highest confidence fraud case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4581144"/>
            <a:ext cx="11640312" cy="89611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4320" y="4581144"/>
            <a:ext cx="91440" cy="8961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4636007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Penthievre alambics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56631"/>
            <a:ext cx="1188720" cy="329184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056631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78/100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30168" y="4636007"/>
            <a:ext cx="3154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Co-billing · billing spike · round numbers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30168" y="4928616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94% co-billing rate - highest in dataset. 2 spike months.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13448" y="4782312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Full audit + suspend all pending payments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5513832"/>
            <a:ext cx="11640312" cy="89611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" y="5513832"/>
            <a:ext cx="91440" cy="8961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5568696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Runner glasses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5989320"/>
            <a:ext cx="1188720" cy="329184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5989320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74/100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30168" y="5568696"/>
            <a:ext cx="3154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Co-billing · repeated amounts · round numbers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30168" y="5861304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55% co-billing. 3 repeated-amount patterns. All contacts: exact round euros.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13448" y="5715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Audit focus on fabricated contacts charges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Under Review &amp; Cleared Providers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3 providers flagged for manual review · 4 providers fully cleared with no suspicious patterns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3200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444752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Flagged for manual review  -  score below auto-hold threshold but patterns present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783080"/>
            <a:ext cx="11640312" cy="749808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1783080"/>
            <a:ext cx="91440" cy="749808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984248"/>
            <a:ext cx="1188720" cy="329184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984248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54/100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1837943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Kylian's frames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16712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7B39"/>
                </a:solidFill>
              </a:rPr>
              <a:t>Co-billing (76%) · billing spike · round numbers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947672"/>
            <a:ext cx="6492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Below the 70-point hold threshold but has 3 signals. Recommend manual review before next payment cycle.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587752"/>
            <a:ext cx="11640312" cy="749808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2587752"/>
            <a:ext cx="91440" cy="749808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788920"/>
            <a:ext cx="1188720" cy="329184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788920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40/100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2642616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Roudoudou lentilles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297180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7B39"/>
                </a:solidFill>
              </a:rPr>
              <a:t>Systematic co-billing (100% of months) · round numbers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752344"/>
            <a:ext cx="6492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Every single active month had both categories billed. Low total due to no spike. Review co-billing pattern.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392424"/>
            <a:ext cx="11640312" cy="749808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3392424"/>
            <a:ext cx="91440" cy="749808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593592"/>
            <a:ext cx="1188720" cy="329184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593592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15/100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344728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Voodoo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377647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7B39"/>
                </a:solidFill>
              </a:rPr>
              <a:t>Round number billing detected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80" y="3557016"/>
            <a:ext cx="6492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Low score but whole-euro billing pattern present. Monitor - flag for review if pattern continues next cycle.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206240"/>
            <a:ext cx="11640312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233672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Cleared - no suspicious patterns detected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572000"/>
            <a:ext cx="2816352" cy="777240"/>
          </a:xfrm>
          <a:prstGeom prst="rect">
            <a:avLst/>
          </a:prstGeom>
          <a:solidFill>
            <a:srgbClr val="F0F9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645152"/>
            <a:ext cx="100584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4048" y="464515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0/100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468172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La classe à Dallas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" y="5029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No flags raised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82112" y="4572000"/>
            <a:ext cx="2816352" cy="777240"/>
          </a:xfrm>
          <a:prstGeom prst="rect">
            <a:avLst/>
          </a:prstGeom>
          <a:solidFill>
            <a:srgbClr val="F0F9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91840" y="4645152"/>
            <a:ext cx="100584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91840" y="464515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0/100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70832" y="468172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Cool optics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91840" y="5029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No flags raised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9904" y="4572000"/>
            <a:ext cx="2816352" cy="777240"/>
          </a:xfrm>
          <a:prstGeom prst="rect">
            <a:avLst/>
          </a:prstGeom>
          <a:solidFill>
            <a:srgbClr val="F0F9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99632" y="4645152"/>
            <a:ext cx="100584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99632" y="464515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0/100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78624" y="468172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abc optic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9632" y="5029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No flags raised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97696" y="4572000"/>
            <a:ext cx="2816352" cy="777240"/>
          </a:xfrm>
          <a:prstGeom prst="rect">
            <a:avLst/>
          </a:prstGeom>
          <a:solidFill>
            <a:srgbClr val="F0F9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07424" y="4645152"/>
            <a:ext cx="100584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07424" y="464515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0/100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86416" y="468172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22 optics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07424" y="5029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No flags raised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32120"/>
            <a:ext cx="12188952" cy="1325880"/>
          </a:xfrm>
          <a:prstGeom prst="rect">
            <a:avLst/>
          </a:prstGeom>
          <a:solidFill>
            <a:srgbClr val="0D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9144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CCCCCC"/>
                </a:solidFill>
              </a:rPr>
              <a:t>Beyond the analysis 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I built a working system
around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34640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The detection logic above is packaged into a full web application that an ops team can actually use day-to-day: upload new claims, run detection with one click, and review every flagged provider with full evidence.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749039"/>
            <a:ext cx="2743200" cy="155448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749039"/>
            <a:ext cx="2743200" cy="9144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39136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4279392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Live risk scores, flagged provider count, recent review activity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3749039"/>
            <a:ext cx="2743200" cy="155448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3749039"/>
            <a:ext cx="2743200" cy="91440"/>
          </a:xfrm>
          <a:prstGeom prst="rect">
            <a:avLst/>
          </a:prstGeom>
          <a:solidFill>
            <a:srgbClr val="0D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2" y="39136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Provider 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4279392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Run detection · search and filter · see every provider's risk 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3749039"/>
            <a:ext cx="2743200" cy="155448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3749039"/>
            <a:ext cx="2743200" cy="914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39136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Flag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4279392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Click any provider to see exactly which claims triggered each flag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81160" y="3749039"/>
            <a:ext cx="2743200" cy="155448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81160" y="3749039"/>
            <a:ext cx="2743200" cy="91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45752" y="39136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Review panel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5752" y="4279392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Submit a decision on any provider - approve, escalate, or blacklist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65099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788AA"/>
                </a:solidFill>
              </a:rPr>
              <a:t>Built with  Next.js + TypeScript  ·  Python FastAPI  ·  PostgreSQL  ·  Full FR/EN localisation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138928"/>
            <a:ext cx="11155680" cy="347472"/>
          </a:xfrm>
          <a:prstGeom prst="rect">
            <a:avLst/>
          </a:prstGeom>
          <a:solidFill>
            <a:srgbClr val="0D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166360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5A623"/>
                </a:solidFill>
                <a:hlinkClick r:id="rId2"/>
              </a:rPr>
              <a:t>🌐  Live demo:  alan-production-0d14.up.railway.app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440"/>
                </a:solidFill>
              </a:rPr>
              <a:t>QUESTION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Based on your analysis, what proactive actions would you take or initiate to prevent similar fraud in the future?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Better data, ongoing
monitoring, smarter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406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Immediate improvements · network-level detection · seasonal calibration · ML scoring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How to Improve Detection Over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Current system catches clear patterns - here's how to make it more precise and harder to game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5715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5715000" cy="9144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5819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Member-level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2024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1A78C2"/>
                </a:solidFill>
              </a:rPr>
              <a:t>Get individual claim-level data instead of monthly aggregates.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221992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Currently co-billing is detected at the provider level - it's not possible to confirm it's the same patient being billed for both glasses and contacts. With member IDs per claim, I could detect the exact fraud scenario: one patient billed for both products in the same month.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72968"/>
            <a:ext cx="530352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18688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78C2"/>
                </a:solidFill>
              </a:rPr>
              <a:t>→  Higher precision · fewer false positives · unambiguous evidence for legal action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1417320"/>
            <a:ext cx="5715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417320"/>
            <a:ext cx="5715000" cy="91440"/>
          </a:xfrm>
          <a:prstGeom prst="rect">
            <a:avLst/>
          </a:prstGeom>
          <a:solidFill>
            <a:srgbClr val="0D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5819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Geographic clustering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92024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0D7A8E"/>
                </a:solidFill>
              </a:rPr>
              <a:t>Flag multiple providers operating from the same address.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221992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A network of opticians run by the same owner could each stay below the scoring threshold individually while collectively committing large-scale fraud. Address matching and network analysis would catch coordinated schemes invisible to per-provider rules.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3172968"/>
            <a:ext cx="530352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3218688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7A8E"/>
                </a:solidFill>
              </a:rPr>
              <a:t>→  Detects organised fraud rings · cross-provider signal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813048"/>
            <a:ext cx="5715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3813048"/>
            <a:ext cx="5715000" cy="914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97763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Seasonal calibration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3159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E07B39"/>
                </a:solidFill>
              </a:rPr>
              <a:t>Adjust rolling medians to account for known seasonal spikes.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1772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Legitimate sales spikes occur every December (gift-giving) and September (back to school). A spike rule that doesn't account for seasonality will generate false positives for honest providers during these periods, wasting reviewer time.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568696"/>
            <a:ext cx="530352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614416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7B39"/>
                </a:solidFill>
              </a:rPr>
              <a:t>→  Fewer false positives · reviewer trust maintained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3813048"/>
            <a:ext cx="57150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3813048"/>
            <a:ext cx="5715000" cy="91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397763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Machine learning scoring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3159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2E7D32"/>
                </a:solidFill>
              </a:rPr>
              <a:t>Train a model on confirmed fraud cases to replace fixed point weights.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461772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The current 4-rule system uses fixed scores (+20, +25, +15, +15) that were chosen manually. A supervised ML model trained on confirmed fraud outcomes would learn which combinations of signals are most predictive - and weight them accordingly.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5568696"/>
            <a:ext cx="5303520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614416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7D32"/>
                </a:solidFill>
              </a:rPr>
              <a:t>→  Dynamic weights · adapts as fraud patterns evolve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