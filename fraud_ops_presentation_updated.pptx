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846320"/>
            <a:ext cx="12188952" cy="20116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7432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8229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A623"/>
                </a:solidFill>
              </a:rPr>
              <a:t>ALAN ASSURANCE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1732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</a:rPr>
              <a:t>Ops Runner — Technical Case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CCCCCC"/>
                </a:solidFill>
              </a:rPr>
              <a:t>Detecting Fraud in Optical Care Claims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154680"/>
            <a:ext cx="10515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CCCCCC"/>
                </a:solidFill>
              </a:rPr>
              <a:t>Alan reimburses optical care claims submitted by opticians. This case asks: can we detect which providers are billing fraudulently — and build a system to catch it automatically?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80644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March 2024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91440"/>
            <a:ext cx="11430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Dataset — What We're Working With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6" name="Rectangle 5"/>
          <p:cNvSpPr/>
          <p:nvPr/>
        </p:nvSpPr>
        <p:spPr>
          <a:xfrm>
            <a:off x="356615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444752"/>
            <a:ext cx="2743200" cy="18288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2440"/>
                </a:solidFill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Optical providers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Independent optician shops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3697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444752"/>
            <a:ext cx="2743200" cy="18288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1A78C2"/>
                </a:solidFill>
              </a:rPr>
              <a:t>221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Reimbursement claims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3756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Records of money paid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1733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08076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080760" y="1444752"/>
            <a:ext cx="2743200" cy="18288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0D7A8E"/>
                </a:solidFill>
              </a:rPr>
              <a:t>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Months of history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January 2022 – June 2023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7696" y="1481328"/>
            <a:ext cx="2743200" cy="1417320"/>
          </a:xfrm>
          <a:prstGeom prst="rect">
            <a:avLst/>
          </a:prstGeom>
          <a:solidFill>
            <a:srgbClr val="E4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61120" y="1444752"/>
            <a:ext cx="274320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961120" y="1444752"/>
            <a:ext cx="2743200" cy="18288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98280" y="1700784"/>
            <a:ext cx="246888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E07B39"/>
                </a:solidFill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98280" y="228600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Claim categories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5968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Lunettes (glasses) · Lentilles (contacts)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218688"/>
            <a:ext cx="5440680" cy="2880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3218688"/>
            <a:ext cx="109728" cy="28803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3291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What a single data row looks like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" y="3639312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Each row = one provider's total billings for one category in one month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023360"/>
            <a:ext cx="5074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" y="404164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Provider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606040" y="404164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389120"/>
            <a:ext cx="50749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40740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Category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606040" y="440740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Lunettes (glasses)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754880"/>
            <a:ext cx="5074920" cy="34747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" y="47731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Month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606040" y="477316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March 2023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120640"/>
            <a:ext cx="5074920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513892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Amount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06040" y="5138928"/>
            <a:ext cx="2834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€ 1 150.00  billed to Alan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35040" y="3218688"/>
            <a:ext cx="5852160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035040" y="3218688"/>
            <a:ext cx="109728" cy="28803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91072" y="329184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The question we're trying to answer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72200" y="3703320"/>
            <a:ext cx="55778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0" y="3730752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Who might be committing fraud?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4005072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Some opticians may be billing for services that were never provided — or inflating bills to extract more money from Alan.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4453128"/>
            <a:ext cx="5577840" cy="685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09360" y="448056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What does fraud look like in this data?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09360" y="4754880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Unusual billing patterns: sudden spikes, identical repeated amounts, or always claiming both glasses and contacts together.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72200" y="5202936"/>
            <a:ext cx="5577840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0" y="5230368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What can we do about it?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0" y="550468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Automatically score each provider and surface the suspicious ones for a human reviewer to investigate.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Data Exploration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What suspicious
patterns did we find?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8 out of 12 providers showed at least one red flag · 4 distinct fraud patterns identified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Results — Which Providers Look Suspicious?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Each provider is given a risk score 0–100 based on how many suspicious patterns were detected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36576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59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Risk 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59" y="1435608"/>
            <a:ext cx="17373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What was detected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810512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1856231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Queen optics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94759" y="185623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99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57800" y="1856231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95159" y="185623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67128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221284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Mike lunettes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94759" y="221284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96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57800" y="221284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59" y="221284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23744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256946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Les lunettes à Soso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94759" y="256946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57800" y="256946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95159" y="256946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repeated + round numbers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2880360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292608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Penthievre alambics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94759" y="292608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78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57800" y="2926080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95159" y="292608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236976"/>
            <a:ext cx="11640312" cy="356616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328269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Runner glasses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94759" y="328269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74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3282696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95159" y="3282696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repeated amounts + round numbers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593592"/>
            <a:ext cx="11640312" cy="356616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639312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94759" y="3639312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54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57800" y="3639312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95159" y="3639312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billing spike + round numbers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3950208"/>
            <a:ext cx="11640312" cy="356616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99592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Roudoudou lentilles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794759" y="399592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57800" y="3995928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95159" y="3995928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round numbers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306824"/>
            <a:ext cx="11640312" cy="356616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435254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Voodoo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94759" y="435254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15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800" y="4352544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95159" y="4352544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Round number billing detected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4663440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4709159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La classe à Dallas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794759" y="4709159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257800" y="4709159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995159" y="4709159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020055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65760" y="5065775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Cool optics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794759" y="5065775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065775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995159" y="5065775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376671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65760" y="5422391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abc optic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794759" y="5422391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257800" y="5422391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995159" y="5422391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5733287"/>
            <a:ext cx="11640312" cy="356616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5760" y="5779007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22 optics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794759" y="5779007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</a:rPr>
              <a:t>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257800" y="5779007"/>
            <a:ext cx="1600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Cleared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995159" y="5779007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 suspicious patterns found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74320" y="6163055"/>
            <a:ext cx="11640312" cy="402336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0" y="6199631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5 providers had payments automatically held  ·  3 flagged for manual review  ·  4 cleared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1 — Glasses and Contacts Always Billed Together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Some opticians systematically claim both Lunettes and Lentilles for the same month, month after month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9144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91440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73936"/>
            <a:ext cx="110642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In reality, a single patient can't wear both glasses and contact lenses at the same time. An optician billing for both products every single month is likely adding fictitious contact-lens charges to genuine glasses sales — the patient pays less out-of-pocket while Alan absorbs the extra cost.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450592"/>
            <a:ext cx="574243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450592"/>
            <a:ext cx="5742432" cy="731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596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Kylian's Frames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6280" y="2551176"/>
            <a:ext cx="1417320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2551176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54/100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063240"/>
            <a:ext cx="5349240" cy="6858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09067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07B39"/>
                </a:solidFill>
              </a:rPr>
              <a:t>76% of active months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474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had both Lunettes and Lentilles billed  (10 out of 13 months)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85876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Also had one month where billings suddenly spiked 5× above normal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315968"/>
            <a:ext cx="169164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43159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43525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Risk score: 54/100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08192" y="2450592"/>
            <a:ext cx="5742432" cy="376732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08192" y="2450592"/>
            <a:ext cx="5742432" cy="7315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259689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Roudoudou Lentilles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60152" y="2551176"/>
            <a:ext cx="1417320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60152" y="2551176"/>
            <a:ext cx="141732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40/100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91072" y="3063240"/>
            <a:ext cx="5349240" cy="685800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82512" y="3090672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E07B39"/>
                </a:solidFill>
              </a:rPr>
              <a:t>100% of active months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82512" y="3474720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had both Lunettes and Lentilles billed  (12 out of 12 months)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91072" y="3858768"/>
            <a:ext cx="5349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444444"/>
                </a:solidFill>
              </a:rPr>
              <a:t>Every single active month had both categories — 100% of the time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91072" y="4315968"/>
            <a:ext cx="1691640" cy="347472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291072" y="431596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NEEDS 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65592" y="4352544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Risk score: 40/100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2 — Sudden Unexplained Billing Spikes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Some providers had months where billings jumped dramatically above their own historical average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71323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71323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A sudden spike well above a provider's own normal billing level can indicate a burst of fictitious or inflated claims — especially when it coincides with the co-billing pattern above.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40280"/>
            <a:ext cx="3749039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06039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06039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96/100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79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79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79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3 spike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79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85% co-billing rate across all months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79" y="48280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24528" y="2240280"/>
            <a:ext cx="3749039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224528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61688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56248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56248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78/100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61688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61688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61688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53128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2 spike months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53128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61688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53128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53128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94% co-billing rate — highest in dataset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61688" y="48280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74736" y="2240280"/>
            <a:ext cx="3749039" cy="393192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74736" y="2240280"/>
            <a:ext cx="3749039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11896" y="2395728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506456" y="2350008"/>
            <a:ext cx="1325880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06456" y="235000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99/100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311896" y="2852928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11896" y="2852928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11896" y="3319272"/>
            <a:ext cx="347472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03336" y="3346704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62839"/>
                </a:solidFill>
              </a:rPr>
              <a:t>3 spike months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03336" y="365760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where billings were &gt; 5× their own 6-month average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11896" y="4023360"/>
            <a:ext cx="347472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03336" y="4069080"/>
            <a:ext cx="3246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1A2440"/>
                </a:solidFill>
              </a:rPr>
              <a:t>Also: co-billing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03336" y="4325112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96% co-billing rate — near-universal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11896" y="4828032"/>
            <a:ext cx="34747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Two independent signals → score 100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74320" y="608076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444444"/>
                </a:solidFill>
              </a:rPr>
              <a:t>When two unrelated fraud signals appear simultaneously it dramatically increases confidence the provider is acting fraudulently.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3 — Identical Amounts Billed Repeatedly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The exact same euro amount appearing 3 or more times within a 12-month period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6858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68580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3657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Real claims vary naturally. When the exact same euro amount appears over and over for the same provider and product category, it suggests the claims may be copy-pasted fabrications rather than genuine billing.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12848"/>
            <a:ext cx="5440680" cy="40050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212848"/>
            <a:ext cx="5440680" cy="73152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359152"/>
            <a:ext cx="4023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313432"/>
            <a:ext cx="896112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54880" y="2313432"/>
            <a:ext cx="8961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74/100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36008" y="2779776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36008" y="277977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324612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Three separate repeated-amount patterns detected: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66160"/>
            <a:ext cx="5074920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584448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11680" y="3584448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74720" y="3584448"/>
            <a:ext cx="137160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How many times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913632"/>
            <a:ext cx="50749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928" y="393192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€ 850.00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29968" y="3931920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Glasses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93008" y="393192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4 times in 12 months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261104"/>
            <a:ext cx="507492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" y="427939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€ 320.00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29968" y="4279392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Contacts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93008" y="4279392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3 times in 12 months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608576"/>
            <a:ext cx="507492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46268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€ 650.00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29968" y="4626864"/>
            <a:ext cx="13716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Glasses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93008" y="462686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3 times in 12 months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502920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Also had co-billing in 55% of months → total score 74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2212848"/>
            <a:ext cx="5806440" cy="400507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2212848"/>
            <a:ext cx="5806440" cy="7315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63640" y="2359152"/>
            <a:ext cx="4572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292840" y="2313432"/>
            <a:ext cx="841248" cy="40233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292840" y="2313432"/>
            <a:ext cx="84124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84/100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128248" y="2779776"/>
            <a:ext cx="1691640" cy="34747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128248" y="2779776"/>
            <a:ext cx="1691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3246120"/>
            <a:ext cx="5486400" cy="36576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3273552"/>
            <a:ext cx="5303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The only provider to trigger all three patterns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3657600"/>
            <a:ext cx="5486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3685032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Co-billing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3685032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77% of months had both glasses + contacts billed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63640" y="4224528"/>
            <a:ext cx="5486400" cy="5029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00800" y="4251960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Billing spike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503920" y="4251960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 month jumped to over 5× their normal billing level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63640" y="4791456"/>
            <a:ext cx="5486400" cy="502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0" y="4818888"/>
            <a:ext cx="2011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Repeated amounts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503920" y="4818888"/>
            <a:ext cx="3108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2 separate amounts repeated 3+ times each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63640" y="5394960"/>
            <a:ext cx="5486400" cy="68580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00800" y="5458968"/>
            <a:ext cx="5212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62839"/>
                </a:solidFill>
              </a:rPr>
              <a:t>Three separate, independent signals → highest confidence fraud case in the dataset.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Pattern 4 — Systematic Round-Number Billing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Providers who consistently bill exact round sums (e.g. 300€, 600€) rather than realistic irregular amounts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777240"/>
          </a:xfrm>
          <a:prstGeom prst="rect">
            <a:avLst/>
          </a:prstGeom>
          <a:solidFill>
            <a:srgbClr val="E8F4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109728" cy="77724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481328"/>
            <a:ext cx="4572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Why is this suspicious?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1764792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444444"/>
                </a:solidFill>
              </a:rPr>
              <a:t>Real optical purchases — glasses frames, lenses, fitting — never add up to a perfectly round number. Amounts like €349.91 or €127.50 reflect actual product pricing. When a provider bills €300.00, €600.00, €200.00 every single month with no variation in cents, it strongly suggests fabricated charges rather than genuine sales.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331720"/>
            <a:ext cx="557784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331720"/>
            <a:ext cx="5577840" cy="73152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468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2440"/>
                </a:solidFill>
              </a:rPr>
              <a:t>Runner Glasses — Contacts billing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907792"/>
            <a:ext cx="5212080" cy="56692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2935224"/>
            <a:ext cx="4983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62839"/>
                </a:solidFill>
              </a:rPr>
              <a:t>100% of Lentilles claims are round multiples of 100€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3584448"/>
            <a:ext cx="5212080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Period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Amount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602736"/>
            <a:ext cx="1645920" cy="2468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Round?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31920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395020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70048" y="39502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39502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4242816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66928" y="4261104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June 2022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70048" y="4261104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07408" y="4261104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4553712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6928" y="457200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September 2022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670048" y="4572000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300,00 €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8" y="45720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864608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488289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October 2022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670048" y="4882896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600,00 €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07408" y="48828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5175504"/>
            <a:ext cx="52120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" y="519379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December 2022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70048" y="5193792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600,00 €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07408" y="5193792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486400"/>
            <a:ext cx="52120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66928" y="550468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670048" y="55046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200,00 €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07408" y="550468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✓ Round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35040" y="2331720"/>
            <a:ext cx="58521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35040" y="2331720"/>
            <a:ext cx="5852160" cy="7315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17920" y="24688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Compare: Lunettes (glasses) — same provider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2852928"/>
            <a:ext cx="5440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444444"/>
                </a:solidFill>
              </a:rPr>
              <a:t>Glasses amounts look realistic — irregular cents, normal price variation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3246120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27648" y="326440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339327" y="326440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985248" y="326440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217920" y="3557015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27648" y="3575303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June 2022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339327" y="3575303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449,91 €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985248" y="3575303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17920" y="3867911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27648" y="388620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September 2022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39327" y="3886200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9985248" y="3886200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217920" y="4178808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327648" y="419709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October 2022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339327" y="4197096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699,82 €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85248" y="4197096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217920" y="4489704"/>
            <a:ext cx="5440680" cy="29260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27648" y="450799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December 2022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339327" y="4507992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349,91 €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985248" y="4507992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4800600"/>
            <a:ext cx="5440680" cy="29260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27648" y="481888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April 2023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339327" y="4818888"/>
            <a:ext cx="15544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E7D32"/>
                </a:solidFill>
              </a:rPr>
              <a:t>564,82 €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85248" y="4818888"/>
            <a:ext cx="10972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E7D32"/>
                </a:solidFill>
              </a:rPr>
              <a:t>Realistic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217920" y="5166360"/>
            <a:ext cx="5440680" cy="68580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327648" y="5212080"/>
            <a:ext cx="52120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Same provider, same months — glasses have real prices, contacts are always round numbers. The contacts charges appear fabricated.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74320" y="6263640"/>
            <a:ext cx="116128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444444"/>
                </a:solidFill>
              </a:rPr>
              <a:t>This pattern also appears in Roudoudou Lentilles, Kylian's Frames, and most other flagged providers.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Detection System Design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How did we turn these
patterns into a system?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4 automated detection rules · risk scoring pipeline · instant routing of every provider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Detection Engine — 4 Rules, Automatically Applied to Every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Each rule adds points to a provider's risk score. Final score 0–100 determines what happens next.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Billing Spike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any month where a provider's total billings are more than 5× higher than their own rolling 6-month average for that product category.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79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current month &gt; 5 × 6-month median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7472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+20 points per spiked month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18688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18688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5848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5848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Systematic Co-Billing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55848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providers who bill both glasses and contacts in the same month for the majority of their active months (≥ 50%). Occasional overlap is normal; systematic overlap is not.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18688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355848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04487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≥ 50% of months have both categories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18688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91840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12–25 pts  (scales with rate)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63056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63056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0216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0216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Repeated Identical Amount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0216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any (provider, category) pair where the exact same euro amount appears 3 or more times within any rolling 12-month window. Real billing varies naturally.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63056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00216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48856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same € amount ≥ 3× in 12-month window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63056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8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+15 points per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07424" y="1417320"/>
            <a:ext cx="2788920" cy="3520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107424" y="1417320"/>
            <a:ext cx="2788920" cy="438912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44584" y="1444752"/>
            <a:ext cx="2514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Rule 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44584" y="1920240"/>
            <a:ext cx="2514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A623"/>
                </a:solidFill>
              </a:rPr>
              <a:t>Round Number Billing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44584" y="2340864"/>
            <a:ext cx="25146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CCCCC"/>
                </a:solidFill>
              </a:rPr>
              <a:t>Flag providers where ≥ 70% of claims in a category are whole euro amounts (no cents). Real optical purchases have irregular amounts like 349.91€.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07424" y="3090672"/>
            <a:ext cx="2788920" cy="27432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44584" y="3108960"/>
            <a:ext cx="548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A623"/>
                </a:solidFill>
              </a:rPr>
              <a:t>Logic: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793224" y="3108960"/>
            <a:ext cx="1965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≥ 70% of claims are whole euros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107424" y="4572000"/>
            <a:ext cx="2788920" cy="38404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80576" y="4590288"/>
            <a:ext cx="2642615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+15 points per category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5074920"/>
            <a:ext cx="11640312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65760" y="5093208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What happens to the score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5440680"/>
            <a:ext cx="3520440" cy="10058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Cleared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5760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= 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5760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No flags — approved automatically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160520" y="5440680"/>
            <a:ext cx="3520440" cy="10058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251959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Under Review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51959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1–70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51959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At least one signal — human reviews it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46720" y="5440680"/>
            <a:ext cx="3520440" cy="100584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138160" y="5458968"/>
            <a:ext cx="3337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Payments Held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138160" y="5824728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Score &gt; 70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38160" y="609904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FFFFF"/>
                </a:solidFill>
              </a:rPr>
              <a:t>Strong evidence — payments suspended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532120"/>
            <a:ext cx="12188952" cy="1325880"/>
          </a:xfrm>
          <a:prstGeom prst="rect">
            <a:avLst/>
          </a:prstGeom>
          <a:solidFill>
            <a:srgbClr val="0D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0080"/>
            <a:ext cx="91440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CCCCCC"/>
                </a:solidFill>
              </a:rPr>
              <a:t>Beyond the analysis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we built a working system
around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34640"/>
            <a:ext cx="86868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CCCCC"/>
                </a:solidFill>
              </a:rPr>
              <a:t>The detection logic above is packaged into a full web application that an ops team can actually use day-to-day: upload new claims, run detection with one click, and review every flagged provider with full evidence.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3749039"/>
            <a:ext cx="2743200" cy="9144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751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Live risk scores, flagged provider count, recent review activity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2900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3749039"/>
            <a:ext cx="2743200" cy="9144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359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Provider 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359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Run detection · search and filter · see every provider's risk score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5508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55080" y="3749039"/>
            <a:ext cx="2743200" cy="914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967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Flag evidence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967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Click any provider to see exactly which claims triggered each flag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281160" y="3749039"/>
            <a:ext cx="2743200" cy="1554480"/>
          </a:xfrm>
          <a:prstGeom prst="rect">
            <a:avLst/>
          </a:prstGeom>
          <a:solidFill>
            <a:srgbClr val="263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281160" y="3749039"/>
            <a:ext cx="2743200" cy="91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45752" y="3913632"/>
            <a:ext cx="2423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Review panel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5752" y="4279392"/>
            <a:ext cx="2423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CCCCC"/>
                </a:solidFill>
              </a:rPr>
              <a:t>Submit a decision on any provider — approve, escalate, or blacklist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650992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7788AA"/>
                </a:solidFill>
              </a:rPr>
              <a:t>Built with  Next.js + TypeScript  ·  Python FastAPI  ·  PostgreSQL  ·  Full FR/EN localisation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138928"/>
            <a:ext cx="11155680" cy="347472"/>
          </a:xfrm>
          <a:prstGeom prst="rect">
            <a:avLst/>
          </a:prstGeom>
          <a:solidFill>
            <a:srgbClr val="0D1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5166360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5A623"/>
                </a:solidFill>
              </a:rPr>
              <a:t>🌐  Live demo:  alan-production-0d14.up.railway.app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How the System Is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A simple three-layer web application — data in, detection engine, human review out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338328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3383280" cy="411480"/>
          </a:xfrm>
          <a:prstGeom prst="rect">
            <a:avLst/>
          </a:prstGeom>
          <a:solidFill>
            <a:srgbClr val="1A78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" y="1435608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BROWSER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6459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Next.js Frontend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965960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59" y="20299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Dashboard overview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487168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59" y="255117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Provider risk table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008376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59" y="307238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Flag evidence viewer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529584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59" y="359359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Review submit panel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050791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59" y="411480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CSV import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31920" y="1417320"/>
            <a:ext cx="338328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931920" y="1417320"/>
            <a:ext cx="3383280" cy="411480"/>
          </a:xfrm>
          <a:prstGeom prst="rect">
            <a:avLst/>
          </a:prstGeom>
          <a:solidFill>
            <a:srgbClr val="0D7A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069080" y="1435608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API SERVER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69080" y="16459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Python FastAPI Backend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1965960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51959" y="20299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Auth (demo token / Clerk)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2487168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51959" y="255117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Claims import &amp; storage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0" y="3008376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51959" y="307238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Detection engine runner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3529584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51959" y="359359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Provider scoring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0" y="4050791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251959" y="411480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Review actions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589520" y="1417320"/>
            <a:ext cx="3383280" cy="48920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589520" y="1417320"/>
            <a:ext cx="3383280" cy="41148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726680" y="1435608"/>
            <a:ext cx="31089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</a:rPr>
              <a:t>DATABASE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1645920"/>
            <a:ext cx="3108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PostgreSQL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0" y="1965960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909560" y="202996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claims table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2487168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909560" y="2551176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providers table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0" y="3008376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09560" y="307238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fraud_flags table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772400" y="3529584"/>
            <a:ext cx="301752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909560" y="3593592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2440"/>
                </a:solidFill>
              </a:rPr>
              <a:t>review_actions table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703320" y="3401568"/>
            <a:ext cx="91440" cy="7315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67328" y="3319272"/>
            <a:ext cx="164592" cy="2560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03320" y="3493008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444444"/>
                </a:solidFill>
              </a:rPr>
              <a:t>HTTP / JSON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60920" y="3401568"/>
            <a:ext cx="91440" cy="7315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424928" y="3319272"/>
            <a:ext cx="164592" cy="256032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360920" y="3493008"/>
            <a:ext cx="22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1">
                <a:solidFill>
                  <a:srgbClr val="444444"/>
                </a:solidFill>
              </a:rPr>
              <a:t>SQL / asyncpg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74320" y="6400800"/>
            <a:ext cx="1164031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5760" y="6419088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Deployed on Railway · Postgres managed · Frontend &amp; backend as separate services · Auth required on all API endpoints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The App — Dashboard &amp; Provider Views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alan-production-0d14.up.railway.app  ·  Login: demo mode (alanadmin)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5669280" cy="489204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1417320"/>
            <a:ext cx="5669280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44475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Dashboard  —  Fraud detection overview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7472" y="1847088"/>
            <a:ext cx="1316736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7472" y="1847088"/>
            <a:ext cx="1316736" cy="914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4" y="1993392"/>
            <a:ext cx="1170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A2440"/>
                </a:solidFill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" y="2313432"/>
            <a:ext cx="11704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444444"/>
                </a:solidFill>
              </a:rPr>
              <a:t>TOTAL PROVIDERS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37360" y="1847088"/>
            <a:ext cx="1316736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737360" y="1847088"/>
            <a:ext cx="1316736" cy="91440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10512" y="1993392"/>
            <a:ext cx="1170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07B39"/>
                </a:solidFill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0512" y="2313432"/>
            <a:ext cx="11704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444444"/>
                </a:solidFill>
              </a:rPr>
              <a:t>FLAGGED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27248" y="1847088"/>
            <a:ext cx="1316736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127248" y="1847088"/>
            <a:ext cx="1316736" cy="9144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1993392"/>
            <a:ext cx="1170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62839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2313432"/>
            <a:ext cx="11704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444444"/>
                </a:solidFill>
              </a:rPr>
              <a:t>HELD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17136" y="1847088"/>
            <a:ext cx="1316736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17136" y="1847088"/>
            <a:ext cx="1316736" cy="9144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90288" y="1993392"/>
            <a:ext cx="117043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E7D32"/>
                </a:solidFill>
              </a:rPr>
              <a:t>245k€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90288" y="2313432"/>
            <a:ext cx="1170432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0" i="0">
                <a:solidFill>
                  <a:srgbClr val="444444"/>
                </a:solidFill>
              </a:rPr>
              <a:t>REIMBURSED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47472" y="2670048"/>
            <a:ext cx="5522976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2706624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2440"/>
                </a:solidFill>
              </a:rPr>
              <a:t>Top 10 providers by risk score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12" y="3355847"/>
            <a:ext cx="402336" cy="100584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9264" y="3396081"/>
            <a:ext cx="402336" cy="965606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99616" y="3516782"/>
            <a:ext cx="402336" cy="844905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029967" y="3577132"/>
            <a:ext cx="402336" cy="784555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560320" y="3617366"/>
            <a:ext cx="402336" cy="744321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90672" y="3818534"/>
            <a:ext cx="402336" cy="543153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621023" y="3959351"/>
            <a:ext cx="402336" cy="40233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51375" y="4210812"/>
            <a:ext cx="402336" cy="150876"/>
          </a:xfrm>
          <a:prstGeom prst="rect">
            <a:avLst/>
          </a:prstGeom>
          <a:solidFill>
            <a:srgbClr val="E07B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681727" y="4361688"/>
            <a:ext cx="402336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212079" y="4361688"/>
            <a:ext cx="402336" cy="36576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47472" y="4434840"/>
            <a:ext cx="5522976" cy="384048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448056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444444"/>
                </a:solidFill>
              </a:rPr>
              <a:t>Recent activity:  No review decisions yet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47472" y="4864608"/>
            <a:ext cx="5522976" cy="41148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91032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⚠  5 providers are currently held pending review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72200" y="1417320"/>
            <a:ext cx="5715000" cy="4892040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72200" y="1417320"/>
            <a:ext cx="5715000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144475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Providers  —  12 registered providers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961120" y="1444752"/>
            <a:ext cx="1645920" cy="25603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979408" y="1463040"/>
            <a:ext cx="16093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1" i="0">
                <a:solidFill>
                  <a:srgbClr val="FFFFFF"/>
                </a:solidFill>
              </a:rPr>
              <a:t>▶  Run detection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45352" y="1847088"/>
            <a:ext cx="5568696" cy="2743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09360" y="1874519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1874519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1874519"/>
            <a:ext cx="1097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FFFFFF"/>
                </a:solidFill>
              </a:rPr>
              <a:t>STATUS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45352" y="2148840"/>
            <a:ext cx="5568696" cy="292608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09360" y="217627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Queen optics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686800" y="217627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99/100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01200" y="217627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45352" y="2459736"/>
            <a:ext cx="5568696" cy="292608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09360" y="248716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Mike lunettes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686800" y="248716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96/100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0" y="248716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245352" y="2770632"/>
            <a:ext cx="5568696" cy="292608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309360" y="279806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Les lunettes à Soso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686800" y="279806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84/100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601200" y="2798064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245352" y="3081528"/>
            <a:ext cx="5568696" cy="292608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309360" y="310896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Penthievre alambics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686800" y="310896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78/100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601200" y="310896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245352" y="3392424"/>
            <a:ext cx="5568696" cy="292608"/>
          </a:xfrm>
          <a:prstGeom prst="rect">
            <a:avLst/>
          </a:prstGeom>
          <a:solidFill>
            <a:srgbClr val="FF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309360" y="3419856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Runner glasses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86800" y="3419856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62839"/>
                </a:solidFill>
              </a:rPr>
              <a:t>74/100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601200" y="3419856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D62839"/>
                </a:solidFill>
              </a:rPr>
              <a:t>Auto-held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245352" y="3703320"/>
            <a:ext cx="5568696" cy="292608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309360" y="3730752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Kylian's frames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686800" y="3730752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54/100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01200" y="3730752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07B39"/>
                </a:solidFill>
              </a:rPr>
              <a:t>Needs review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245352" y="4014216"/>
            <a:ext cx="5568696" cy="292608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309360" y="4041648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Roudoudou lentilles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0" y="4041648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40/100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9601200" y="4041648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07B39"/>
                </a:solidFill>
              </a:rPr>
              <a:t>Needs review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245352" y="4325112"/>
            <a:ext cx="5568696" cy="292608"/>
          </a:xfrm>
          <a:prstGeom prst="rect">
            <a:avLst/>
          </a:prstGeom>
          <a:solidFill>
            <a:srgbClr val="FFF6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309360" y="4352544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Voodoo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686800" y="4352544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7B39"/>
                </a:solidFill>
              </a:rPr>
              <a:t>15/100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601200" y="4352544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E07B39"/>
                </a:solidFill>
              </a:rPr>
              <a:t>Needs review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245352" y="4636008"/>
            <a:ext cx="5568696" cy="292608"/>
          </a:xfrm>
          <a:prstGeom prst="rect">
            <a:avLst/>
          </a:prstGeom>
          <a:solidFill>
            <a:srgbClr val="F0F9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09360" y="4663440"/>
            <a:ext cx="2286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444444"/>
                </a:solidFill>
              </a:rPr>
              <a:t>La classe à Dallas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686800" y="4663440"/>
            <a:ext cx="822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E7D32"/>
                </a:solidFill>
              </a:rPr>
              <a:t>0/100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9601200" y="4663440"/>
            <a:ext cx="19202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1" i="0">
                <a:solidFill>
                  <a:srgbClr val="2E7D32"/>
                </a:solidFill>
              </a:rPr>
              <a:t>Auto-approved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245352" y="4956048"/>
            <a:ext cx="5568696" cy="32004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309360" y="4992624"/>
            <a:ext cx="5394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</a:rPr>
              <a:t>Click any provider → full flag evidence + review panel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74320" y="6355080"/>
            <a:ext cx="11612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444444"/>
                </a:solidFill>
              </a:rPr>
              <a:t>← Dashboard overview          Providers list with live risk scores →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03520"/>
            <a:ext cx="12188952" cy="1554480"/>
          </a:xfrm>
          <a:prstGeom prst="rect">
            <a:avLst/>
          </a:prstGeom>
          <a:solidFill>
            <a:srgbClr val="D628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6304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A2440"/>
                </a:solidFill>
              </a:rPr>
              <a:t>QUESTION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031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Recommendations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97480"/>
            <a:ext cx="11430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What should happen
with these providers?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44068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FFFFFF"/>
                </a:solidFill>
              </a:rPr>
              <a:t>Immediate actions · system limitations · how to improve detection over time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18872"/>
            <a:ext cx="1097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A2440"/>
                </a:solidFill>
              </a:rPr>
              <a:t>Q3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73152"/>
            <a:ext cx="10332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Recommended Actions by Provider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960120"/>
            <a:ext cx="12188952" cy="34747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987552"/>
            <a:ext cx="114300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444444"/>
                </a:solidFill>
              </a:rPr>
              <a:t>Prioritised by risk score — highest confidence cases first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4320" y="6519672"/>
            <a:ext cx="11612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Alan Assurance · Fraud Detection Case · 2024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417320"/>
            <a:ext cx="11640312" cy="34747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Provider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79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Outcome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Patterns Found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14356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Action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1792224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" y="184708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Queen optics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0" y="184708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99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79" y="184708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184708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rounds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184708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suspend payments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185416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22402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Mike lunettes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0" y="22402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96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79" y="224028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224028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rounds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24028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suspend payments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2578608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5760" y="26334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Les lunettes à Soso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633472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84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54879" y="2633472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2633472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repeated + rounds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263347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Immediate audit — 4 independent fraud signals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2971800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5760" y="302666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Penthievre alambics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91840" y="3026664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78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54879" y="3026664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3026664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rounds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412480" y="30266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Full audit + suspend payments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364992"/>
            <a:ext cx="11640312" cy="384048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5760" y="341985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A2440"/>
                </a:solidFill>
              </a:rPr>
              <a:t>Runner glasses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291840" y="3419856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62839"/>
                </a:solidFill>
              </a:rPr>
              <a:t>74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54879" y="3419856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62839"/>
                </a:solidFill>
              </a:rPr>
              <a:t>Payments held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46520" y="3419856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repeated + rounds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12480" y="3419856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Audit — round numbers + repeated billing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3758184"/>
            <a:ext cx="11640312" cy="384048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65760" y="38130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40"/>
                </a:solidFill>
              </a:rPr>
              <a:t>Kylian's frames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91840" y="3813048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54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54879" y="3813048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46520" y="3813048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spike + rounds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12480" y="38130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Manual review — multiple signals, below hold threshold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74320" y="4151376"/>
            <a:ext cx="11640312" cy="384048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42062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40"/>
                </a:solidFill>
              </a:rPr>
              <a:t>Roudoudou lentilles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4206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40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754879" y="4206240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46520" y="4206240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Co-billing + rounds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412480" y="42062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Manual review — systematic round numbers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" y="4544568"/>
            <a:ext cx="11640312" cy="384048"/>
          </a:xfrm>
          <a:prstGeom prst="rect">
            <a:avLst/>
          </a:prstGeom>
          <a:solidFill>
            <a:srgbClr val="FFF3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4599431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440"/>
                </a:solidFill>
              </a:rPr>
              <a:t>Voodoo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91840" y="4599431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07B39"/>
                </a:solidFill>
              </a:rPr>
              <a:t>15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754879" y="4599431"/>
            <a:ext cx="1600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07B39"/>
                </a:solidFill>
              </a:rPr>
              <a:t>Under review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446520" y="4599431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Round number billing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12480" y="4599431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Monitor — low score but pattern present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74320" y="5010912"/>
            <a:ext cx="11640312" cy="153619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74320" y="5010912"/>
            <a:ext cx="109728" cy="1536192"/>
          </a:xfrm>
          <a:prstGeom prst="rect">
            <a:avLst/>
          </a:prstGeom>
          <a:solidFill>
            <a:srgbClr val="1A2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02920" y="5084064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2440"/>
                </a:solidFill>
              </a:rPr>
              <a:t>How to improve detection over time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5449823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Get individual claim-level data → detect co-billing and round numbers at member level (more precise)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2920" y="5724143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Add geographic clustering → flag multiple providers at the same address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2920" y="5998463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Seasonal tuning → avoid false positives from legitimate holiday spikes in December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02920" y="6272783"/>
            <a:ext cx="11155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·  ML model trained on confirmed fraud cases → dynamic scoring instead of fixed point weights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